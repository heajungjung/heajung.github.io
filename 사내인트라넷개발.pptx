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4B1FF2-E81D-4F76-BD05-D69A3C062A75}" v="6" dt="2026-04-23T13:48:12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102" y="14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남용 김" userId="13053e4e0fa5cfcb" providerId="LiveId" clId="{DADE4AA1-AA77-4F90-B091-C932A391172C}"/>
    <pc:docChg chg="undo custSel modSld">
      <pc:chgData name="남용 김" userId="13053e4e0fa5cfcb" providerId="LiveId" clId="{DADE4AA1-AA77-4F90-B091-C932A391172C}" dt="2026-04-23T14:32:53.252" v="4093" actId="20577"/>
      <pc:docMkLst>
        <pc:docMk/>
      </pc:docMkLst>
      <pc:sldChg chg="addSp delSp modSp mod">
        <pc:chgData name="남용 김" userId="13053e4e0fa5cfcb" providerId="LiveId" clId="{DADE4AA1-AA77-4F90-B091-C932A391172C}" dt="2026-04-23T13:30:01.788" v="151" actId="478"/>
        <pc:sldMkLst>
          <pc:docMk/>
          <pc:sldMk cId="0" sldId="256"/>
        </pc:sldMkLst>
        <pc:spChg chg="mod">
          <ac:chgData name="남용 김" userId="13053e4e0fa5cfcb" providerId="LiveId" clId="{DADE4AA1-AA77-4F90-B091-C932A391172C}" dt="2026-04-23T13:29:13.178" v="55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남용 김" userId="13053e4e0fa5cfcb" providerId="LiveId" clId="{DADE4AA1-AA77-4F90-B091-C932A391172C}" dt="2026-04-23T13:29:26.826" v="78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남용 김" userId="13053e4e0fa5cfcb" providerId="LiveId" clId="{DADE4AA1-AA77-4F90-B091-C932A391172C}" dt="2026-04-23T13:29:42.592" v="117" actId="20577"/>
          <ac:spMkLst>
            <pc:docMk/>
            <pc:sldMk cId="0" sldId="256"/>
            <ac:spMk id="15" creationId="{00000000-0000-0000-0000-000000000000}"/>
          </ac:spMkLst>
        </pc:spChg>
        <pc:spChg chg="add mod">
          <ac:chgData name="남용 김" userId="13053e4e0fa5cfcb" providerId="LiveId" clId="{DADE4AA1-AA77-4F90-B091-C932A391172C}" dt="2026-04-23T13:29:46.935" v="118"/>
          <ac:spMkLst>
            <pc:docMk/>
            <pc:sldMk cId="0" sldId="256"/>
            <ac:spMk id="19" creationId="{DA4A1FF1-ABA8-8E64-B21C-E94DFC163809}"/>
          </ac:spMkLst>
        </pc:spChg>
        <pc:spChg chg="add del mod">
          <ac:chgData name="남용 김" userId="13053e4e0fa5cfcb" providerId="LiveId" clId="{DADE4AA1-AA77-4F90-B091-C932A391172C}" dt="2026-04-23T13:30:01.788" v="151" actId="478"/>
          <ac:spMkLst>
            <pc:docMk/>
            <pc:sldMk cId="0" sldId="256"/>
            <ac:spMk id="20" creationId="{4C332012-0995-A2CB-7E0E-522E74B3120A}"/>
          </ac:spMkLst>
        </pc:spChg>
        <pc:spChg chg="add del mod">
          <ac:chgData name="남용 김" userId="13053e4e0fa5cfcb" providerId="LiveId" clId="{DADE4AA1-AA77-4F90-B091-C932A391172C}" dt="2026-04-23T13:30:01.788" v="151" actId="478"/>
          <ac:spMkLst>
            <pc:docMk/>
            <pc:sldMk cId="0" sldId="256"/>
            <ac:spMk id="21" creationId="{6CA1EAB6-92FE-5A59-EDFE-87FB57BA62B4}"/>
          </ac:spMkLst>
        </pc:spChg>
      </pc:sldChg>
      <pc:sldChg chg="modSp mod">
        <pc:chgData name="남용 김" userId="13053e4e0fa5cfcb" providerId="LiveId" clId="{DADE4AA1-AA77-4F90-B091-C932A391172C}" dt="2026-04-23T13:46:34.409" v="1923" actId="20577"/>
        <pc:sldMkLst>
          <pc:docMk/>
          <pc:sldMk cId="0" sldId="257"/>
        </pc:sldMkLst>
        <pc:spChg chg="mod">
          <ac:chgData name="남용 김" userId="13053e4e0fa5cfcb" providerId="LiveId" clId="{DADE4AA1-AA77-4F90-B091-C932A391172C}" dt="2026-04-23T13:34:23.323" v="1160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남용 김" userId="13053e4e0fa5cfcb" providerId="LiveId" clId="{DADE4AA1-AA77-4F90-B091-C932A391172C}" dt="2026-04-23T13:43:09.956" v="1184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남용 김" userId="13053e4e0fa5cfcb" providerId="LiveId" clId="{DADE4AA1-AA77-4F90-B091-C932A391172C}" dt="2026-04-23T13:43:28.907" v="1247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남용 김" userId="13053e4e0fa5cfcb" providerId="LiveId" clId="{DADE4AA1-AA77-4F90-B091-C932A391172C}" dt="2026-04-23T13:43:37.283" v="1271" actId="2057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남용 김" userId="13053e4e0fa5cfcb" providerId="LiveId" clId="{DADE4AA1-AA77-4F90-B091-C932A391172C}" dt="2026-04-23T13:43:41.791" v="1273" actId="2057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남용 김" userId="13053e4e0fa5cfcb" providerId="LiveId" clId="{DADE4AA1-AA77-4F90-B091-C932A391172C}" dt="2026-04-23T13:44:00.733" v="1340" actId="20577"/>
          <ac:spMkLst>
            <pc:docMk/>
            <pc:sldMk cId="0" sldId="257"/>
            <ac:spMk id="31" creationId="{00000000-0000-0000-0000-000000000000}"/>
          </ac:spMkLst>
        </pc:spChg>
        <pc:spChg chg="mod">
          <ac:chgData name="남용 김" userId="13053e4e0fa5cfcb" providerId="LiveId" clId="{DADE4AA1-AA77-4F90-B091-C932A391172C}" dt="2026-04-23T13:44:30.876" v="1480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남용 김" userId="13053e4e0fa5cfcb" providerId="LiveId" clId="{DADE4AA1-AA77-4F90-B091-C932A391172C}" dt="2026-04-23T13:44:46.560" v="1544" actId="20577"/>
          <ac:spMkLst>
            <pc:docMk/>
            <pc:sldMk cId="0" sldId="257"/>
            <ac:spMk id="35" creationId="{00000000-0000-0000-0000-000000000000}"/>
          </ac:spMkLst>
        </pc:spChg>
        <pc:spChg chg="mod">
          <ac:chgData name="남용 김" userId="13053e4e0fa5cfcb" providerId="LiveId" clId="{DADE4AA1-AA77-4F90-B091-C932A391172C}" dt="2026-04-23T13:45:14.049" v="1668" actId="20577"/>
          <ac:spMkLst>
            <pc:docMk/>
            <pc:sldMk cId="0" sldId="257"/>
            <ac:spMk id="36" creationId="{00000000-0000-0000-0000-000000000000}"/>
          </ac:spMkLst>
        </pc:spChg>
        <pc:spChg chg="mod">
          <ac:chgData name="남용 김" userId="13053e4e0fa5cfcb" providerId="LiveId" clId="{DADE4AA1-AA77-4F90-B091-C932A391172C}" dt="2026-04-23T13:45:45.907" v="1734" actId="20577"/>
          <ac:spMkLst>
            <pc:docMk/>
            <pc:sldMk cId="0" sldId="257"/>
            <ac:spMk id="39" creationId="{00000000-0000-0000-0000-000000000000}"/>
          </ac:spMkLst>
        </pc:spChg>
        <pc:spChg chg="mod">
          <ac:chgData name="남용 김" userId="13053e4e0fa5cfcb" providerId="LiveId" clId="{DADE4AA1-AA77-4F90-B091-C932A391172C}" dt="2026-04-23T13:46:14.575" v="1849" actId="20577"/>
          <ac:spMkLst>
            <pc:docMk/>
            <pc:sldMk cId="0" sldId="257"/>
            <ac:spMk id="40" creationId="{00000000-0000-0000-0000-000000000000}"/>
          </ac:spMkLst>
        </pc:spChg>
        <pc:spChg chg="mod">
          <ac:chgData name="남용 김" userId="13053e4e0fa5cfcb" providerId="LiveId" clId="{DADE4AA1-AA77-4F90-B091-C932A391172C}" dt="2026-04-23T13:46:25.141" v="1878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남용 김" userId="13053e4e0fa5cfcb" providerId="LiveId" clId="{DADE4AA1-AA77-4F90-B091-C932A391172C}" dt="2026-04-23T13:46:34.409" v="1923" actId="20577"/>
          <ac:spMkLst>
            <pc:docMk/>
            <pc:sldMk cId="0" sldId="257"/>
            <ac:spMk id="44" creationId="{00000000-0000-0000-0000-000000000000}"/>
          </ac:spMkLst>
        </pc:spChg>
      </pc:sldChg>
      <pc:sldChg chg="addSp delSp modSp mod">
        <pc:chgData name="남용 김" userId="13053e4e0fa5cfcb" providerId="LiveId" clId="{DADE4AA1-AA77-4F90-B091-C932A391172C}" dt="2026-04-23T13:49:36.765" v="1938" actId="478"/>
        <pc:sldMkLst>
          <pc:docMk/>
          <pc:sldMk cId="0" sldId="258"/>
        </pc:sldMkLst>
        <pc:spChg chg="mod">
          <ac:chgData name="남용 김" userId="13053e4e0fa5cfcb" providerId="LiveId" clId="{DADE4AA1-AA77-4F90-B091-C932A391172C}" dt="2026-04-23T11:48:34.413" v="34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남용 김" userId="13053e4e0fa5cfcb" providerId="LiveId" clId="{DADE4AA1-AA77-4F90-B091-C932A391172C}" dt="2026-04-23T11:41:36.449" v="0" actId="20577"/>
          <ac:spMkLst>
            <pc:docMk/>
            <pc:sldMk cId="0" sldId="258"/>
            <ac:spMk id="23" creationId="{00000000-0000-0000-0000-000000000000}"/>
          </ac:spMkLst>
        </pc:spChg>
        <pc:picChg chg="add del mod modCrop">
          <ac:chgData name="남용 김" userId="13053e4e0fa5cfcb" providerId="LiveId" clId="{DADE4AA1-AA77-4F90-B091-C932A391172C}" dt="2026-04-23T13:49:36.765" v="1938" actId="478"/>
          <ac:picMkLst>
            <pc:docMk/>
            <pc:sldMk cId="0" sldId="258"/>
            <ac:picMk id="36" creationId="{E1B2CDBE-B994-2DAB-07AA-BC505C9CF242}"/>
          </ac:picMkLst>
        </pc:picChg>
      </pc:sldChg>
      <pc:sldChg chg="modSp mod">
        <pc:chgData name="남용 김" userId="13053e4e0fa5cfcb" providerId="LiveId" clId="{DADE4AA1-AA77-4F90-B091-C932A391172C}" dt="2026-04-23T13:53:48.191" v="2505" actId="20577"/>
        <pc:sldMkLst>
          <pc:docMk/>
          <pc:sldMk cId="0" sldId="259"/>
        </pc:sldMkLst>
        <pc:spChg chg="mod">
          <ac:chgData name="남용 김" userId="13053e4e0fa5cfcb" providerId="LiveId" clId="{DADE4AA1-AA77-4F90-B091-C932A391172C}" dt="2026-04-23T13:49:47.722" v="1940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남용 김" userId="13053e4e0fa5cfcb" providerId="LiveId" clId="{DADE4AA1-AA77-4F90-B091-C932A391172C}" dt="2026-04-23T13:50:23.580" v="2017" actId="2057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남용 김" userId="13053e4e0fa5cfcb" providerId="LiveId" clId="{DADE4AA1-AA77-4F90-B091-C932A391172C}" dt="2026-04-23T13:50:51.430" v="2148" actId="20577"/>
          <ac:spMkLst>
            <pc:docMk/>
            <pc:sldMk cId="0" sldId="259"/>
            <ac:spMk id="25" creationId="{00000000-0000-0000-0000-000000000000}"/>
          </ac:spMkLst>
        </pc:spChg>
        <pc:spChg chg="mod">
          <ac:chgData name="남용 김" userId="13053e4e0fa5cfcb" providerId="LiveId" clId="{DADE4AA1-AA77-4F90-B091-C932A391172C}" dt="2026-04-23T13:53:48.191" v="2505" actId="20577"/>
          <ac:spMkLst>
            <pc:docMk/>
            <pc:sldMk cId="0" sldId="259"/>
            <ac:spMk id="30" creationId="{00000000-0000-0000-0000-000000000000}"/>
          </ac:spMkLst>
        </pc:spChg>
        <pc:spChg chg="mod">
          <ac:chgData name="남용 김" userId="13053e4e0fa5cfcb" providerId="LiveId" clId="{DADE4AA1-AA77-4F90-B091-C932A391172C}" dt="2026-04-23T13:51:47.418" v="2291" actId="1076"/>
          <ac:spMkLst>
            <pc:docMk/>
            <pc:sldMk cId="0" sldId="259"/>
            <ac:spMk id="35" creationId="{00000000-0000-0000-0000-000000000000}"/>
          </ac:spMkLst>
        </pc:spChg>
        <pc:spChg chg="mod">
          <ac:chgData name="남용 김" userId="13053e4e0fa5cfcb" providerId="LiveId" clId="{DADE4AA1-AA77-4F90-B091-C932A391172C}" dt="2026-04-23T13:52:03.994" v="2293" actId="1076"/>
          <ac:spMkLst>
            <pc:docMk/>
            <pc:sldMk cId="0" sldId="259"/>
            <ac:spMk id="42" creationId="{00000000-0000-0000-0000-000000000000}"/>
          </ac:spMkLst>
        </pc:spChg>
        <pc:spChg chg="mod">
          <ac:chgData name="남용 김" userId="13053e4e0fa5cfcb" providerId="LiveId" clId="{DADE4AA1-AA77-4F90-B091-C932A391172C}" dt="2026-04-23T13:53:19.703" v="2501" actId="20577"/>
          <ac:spMkLst>
            <pc:docMk/>
            <pc:sldMk cId="0" sldId="259"/>
            <ac:spMk id="43" creationId="{00000000-0000-0000-0000-000000000000}"/>
          </ac:spMkLst>
        </pc:spChg>
      </pc:sldChg>
      <pc:sldChg chg="modSp mod">
        <pc:chgData name="남용 김" userId="13053e4e0fa5cfcb" providerId="LiveId" clId="{DADE4AA1-AA77-4F90-B091-C932A391172C}" dt="2026-04-23T14:15:40.628" v="2925" actId="20577"/>
        <pc:sldMkLst>
          <pc:docMk/>
          <pc:sldMk cId="0" sldId="260"/>
        </pc:sldMkLst>
        <pc:spChg chg="mod">
          <ac:chgData name="남용 김" userId="13053e4e0fa5cfcb" providerId="LiveId" clId="{DADE4AA1-AA77-4F90-B091-C932A391172C}" dt="2026-04-23T14:12:42.430" v="2660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남용 김" userId="13053e4e0fa5cfcb" providerId="LiveId" clId="{DADE4AA1-AA77-4F90-B091-C932A391172C}" dt="2026-04-23T14:13:34.717" v="2678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남용 김" userId="13053e4e0fa5cfcb" providerId="LiveId" clId="{DADE4AA1-AA77-4F90-B091-C932A391172C}" dt="2026-04-23T14:14:42.085" v="2825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남용 김" userId="13053e4e0fa5cfcb" providerId="LiveId" clId="{DADE4AA1-AA77-4F90-B091-C932A391172C}" dt="2026-04-23T14:15:40.628" v="2925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남용 김" userId="13053e4e0fa5cfcb" providerId="LiveId" clId="{DADE4AA1-AA77-4F90-B091-C932A391172C}" dt="2026-04-23T11:45:42.676" v="14" actId="2057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남용 김" userId="13053e4e0fa5cfcb" providerId="LiveId" clId="{DADE4AA1-AA77-4F90-B091-C932A391172C}" dt="2026-04-23T11:45:59.339" v="18" actId="2057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남용 김" userId="13053e4e0fa5cfcb" providerId="LiveId" clId="{DADE4AA1-AA77-4F90-B091-C932A391172C}" dt="2026-04-23T14:12:01.235" v="2518" actId="20577"/>
          <ac:spMkLst>
            <pc:docMk/>
            <pc:sldMk cId="0" sldId="260"/>
            <ac:spMk id="30" creationId="{00000000-0000-0000-0000-000000000000}"/>
          </ac:spMkLst>
        </pc:spChg>
      </pc:sldChg>
      <pc:sldChg chg="delSp modSp mod">
        <pc:chgData name="남용 김" userId="13053e4e0fa5cfcb" providerId="LiveId" clId="{DADE4AA1-AA77-4F90-B091-C932A391172C}" dt="2026-04-23T14:32:53.252" v="4093" actId="20577"/>
        <pc:sldMkLst>
          <pc:docMk/>
          <pc:sldMk cId="0" sldId="263"/>
        </pc:sldMkLst>
        <pc:spChg chg="del">
          <ac:chgData name="남용 김" userId="13053e4e0fa5cfcb" providerId="LiveId" clId="{DADE4AA1-AA77-4F90-B091-C932A391172C}" dt="2026-04-23T14:23:28.763" v="2926" actId="478"/>
          <ac:spMkLst>
            <pc:docMk/>
            <pc:sldMk cId="0" sldId="263"/>
            <ac:spMk id="7" creationId="{00000000-0000-0000-0000-000000000000}"/>
          </ac:spMkLst>
        </pc:spChg>
        <pc:spChg chg="mod">
          <ac:chgData name="남용 김" userId="13053e4e0fa5cfcb" providerId="LiveId" clId="{DADE4AA1-AA77-4F90-B091-C932A391172C}" dt="2026-04-23T14:23:34.025" v="2927" actId="2057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남용 김" userId="13053e4e0fa5cfcb" providerId="LiveId" clId="{DADE4AA1-AA77-4F90-B091-C932A391172C}" dt="2026-04-23T14:27:47.089" v="3965" actId="20577"/>
          <ac:spMkLst>
            <pc:docMk/>
            <pc:sldMk cId="0" sldId="263"/>
            <ac:spMk id="13" creationId="{00000000-0000-0000-0000-000000000000}"/>
          </ac:spMkLst>
        </pc:spChg>
        <pc:spChg chg="mod">
          <ac:chgData name="남용 김" userId="13053e4e0fa5cfcb" providerId="LiveId" clId="{DADE4AA1-AA77-4F90-B091-C932A391172C}" dt="2026-04-23T14:28:29.455" v="3985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남용 김" userId="13053e4e0fa5cfcb" providerId="LiveId" clId="{DADE4AA1-AA77-4F90-B091-C932A391172C}" dt="2026-04-23T14:32:53.252" v="4093" actId="20577"/>
          <ac:spMkLst>
            <pc:docMk/>
            <pc:sldMk cId="0" sldId="263"/>
            <ac:spMk id="25" creationId="{00000000-0000-0000-0000-000000000000}"/>
          </ac:spMkLst>
        </pc:spChg>
        <pc:spChg chg="mod">
          <ac:chgData name="남용 김" userId="13053e4e0fa5cfcb" providerId="LiveId" clId="{DADE4AA1-AA77-4F90-B091-C932A391172C}" dt="2026-04-23T14:28:59.307" v="3987" actId="20577"/>
          <ac:spMkLst>
            <pc:docMk/>
            <pc:sldMk cId="0" sldId="263"/>
            <ac:spMk id="3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217920" y="-274320"/>
            <a:ext cx="3840480" cy="3840480"/>
          </a:xfrm>
          <a:prstGeom prst="ellipse">
            <a:avLst/>
          </a:prstGeom>
          <a:solidFill>
            <a:srgbClr val="243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132320" y="1463040"/>
            <a:ext cx="2103120" cy="2103120"/>
          </a:xfrm>
          <a:prstGeom prst="ellipse">
            <a:avLst/>
          </a:prstGeom>
          <a:solidFill>
            <a:srgbClr val="2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457200" y="3474720"/>
            <a:ext cx="2743200" cy="2743200"/>
          </a:xfrm>
          <a:prstGeom prst="ellipse">
            <a:avLst/>
          </a:prstGeom>
          <a:solidFill>
            <a:srgbClr val="243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64008" cy="2377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54864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>
                <a:solidFill>
                  <a:srgbClr val="AABBDD"/>
                </a:solidFill>
                <a:latin typeface="Malgun Gothic"/>
              </a:rPr>
              <a:t>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7315200" cy="63607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lang="ko-KR" altLang="en-US" sz="3800" b="1" i="0" dirty="0">
                <a:solidFill>
                  <a:srgbClr val="FFFFFF"/>
                </a:solidFill>
                <a:latin typeface="Malgun Gothic"/>
              </a:rPr>
              <a:t>사내 인트라넷</a:t>
            </a:r>
            <a:r>
              <a:rPr sz="38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3800" b="1" i="0" dirty="0" err="1">
                <a:solidFill>
                  <a:srgbClr val="FFFFFF"/>
                </a:solidFill>
                <a:latin typeface="Malgun Gothic"/>
              </a:rPr>
              <a:t>시스템</a:t>
            </a:r>
            <a:endParaRPr sz="38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2724912"/>
            <a:ext cx="6858000" cy="2667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400" b="0" i="0" dirty="0">
                <a:solidFill>
                  <a:srgbClr val="AABBDD"/>
                </a:solidFill>
                <a:latin typeface="Malgun Gothic"/>
              </a:rPr>
              <a:t>Spring Boot </a:t>
            </a:r>
            <a:r>
              <a:rPr sz="1400" b="0" i="0" dirty="0" err="1">
                <a:solidFill>
                  <a:srgbClr val="AABBDD"/>
                </a:solidFill>
                <a:latin typeface="Malgun Gothic"/>
              </a:rPr>
              <a:t>기반</a:t>
            </a:r>
            <a:r>
              <a:rPr sz="1400" b="0" i="0" dirty="0">
                <a:solidFill>
                  <a:srgbClr val="AABBDD"/>
                </a:solidFill>
                <a:latin typeface="Malgun Gothic"/>
              </a:rPr>
              <a:t> </a:t>
            </a:r>
            <a:r>
              <a:rPr lang="en-US" sz="1400" dirty="0">
                <a:solidFill>
                  <a:srgbClr val="AABBDD"/>
                </a:solidFill>
                <a:latin typeface="Malgun Gothic"/>
              </a:rPr>
              <a:t>MSA </a:t>
            </a:r>
            <a:r>
              <a:rPr lang="ko-KR" altLang="en-US" sz="1400" dirty="0">
                <a:solidFill>
                  <a:srgbClr val="AABBDD"/>
                </a:solidFill>
                <a:latin typeface="Malgun Gothic"/>
              </a:rPr>
              <a:t>프로젝트</a:t>
            </a:r>
            <a:r>
              <a:rPr sz="1400" b="0" i="0" dirty="0">
                <a:solidFill>
                  <a:srgbClr val="AABBDD"/>
                </a:solidFill>
                <a:latin typeface="Malgun Gothic"/>
              </a:rPr>
              <a:t> </a:t>
            </a:r>
            <a:r>
              <a:rPr sz="1400" b="0" i="0" dirty="0" err="1">
                <a:solidFill>
                  <a:srgbClr val="AABBDD"/>
                </a:solidFill>
                <a:latin typeface="Malgun Gothic"/>
              </a:rPr>
              <a:t>개발</a:t>
            </a:r>
            <a:r>
              <a:rPr sz="1400" b="0" i="0" dirty="0">
                <a:solidFill>
                  <a:srgbClr val="AABBDD"/>
                </a:solidFill>
                <a:latin typeface="Malgun Gothic"/>
              </a:rPr>
              <a:t> </a:t>
            </a:r>
            <a:r>
              <a:rPr sz="1400" b="0" i="0" dirty="0" err="1">
                <a:solidFill>
                  <a:srgbClr val="AABBDD"/>
                </a:solidFill>
                <a:latin typeface="Malgun Gothic"/>
              </a:rPr>
              <a:t>포트폴리오</a:t>
            </a:r>
            <a:endParaRPr sz="1400" b="0" i="0" dirty="0">
              <a:solidFill>
                <a:srgbClr val="AABBDD"/>
              </a:solidFill>
              <a:latin typeface="Malgun Gothic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7240" y="3337560"/>
            <a:ext cx="2286000" cy="32918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286000" cy="3291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Spring Boot 3.x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27832" y="3337560"/>
            <a:ext cx="1901952" cy="329184"/>
          </a:xfrm>
          <a:prstGeom prst="rect">
            <a:avLst/>
          </a:prstGeom>
          <a:solidFill>
            <a:srgbClr val="2E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27832" y="3337560"/>
            <a:ext cx="1901952" cy="3291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Malgun Gothic"/>
              </a:rPr>
              <a:t>Spring Batch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94376" y="3337560"/>
            <a:ext cx="1005840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94376" y="3337560"/>
            <a:ext cx="1005840" cy="220573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lang="en-US" sz="1100" b="1" dirty="0" err="1">
                <a:solidFill>
                  <a:srgbClr val="FFFFFF"/>
                </a:solidFill>
                <a:latin typeface="Malgun Gothic"/>
              </a:rPr>
              <a:t>PostgreSql</a:t>
            </a:r>
            <a:endParaRPr sz="11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64808" y="3337560"/>
            <a:ext cx="1517904" cy="32918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8" y="3337560"/>
            <a:ext cx="1517904" cy="3291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Malgun Gothic"/>
              </a:rPr>
              <a:t>Thymeleaf</a:t>
            </a:r>
            <a:endParaRPr sz="11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5486400" cy="34747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7788AA"/>
                </a:solidFill>
                <a:latin typeface="Malgun Gothic"/>
              </a:rPr>
              <a:t>Backend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6400800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64592"/>
            <a:ext cx="19202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1000" b="0" i="0">
                <a:solidFill>
                  <a:srgbClr val="AABBDD"/>
                </a:solidFill>
                <a:latin typeface="Malgun Gothic"/>
              </a:rPr>
              <a:t>Project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420624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64008" cy="38404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3749039" cy="34747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400" b="1" i="0">
                <a:solidFill>
                  <a:srgbClr val="1A254E"/>
                </a:solidFill>
                <a:latin typeface="Malgun Gothic"/>
              </a:rPr>
              <a:t>프로젝트 소개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3840480" cy="1179810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300"/>
              </a:spcAft>
            </a:pPr>
            <a:r>
              <a:rPr lang="ko-KR" altLang="en-US" sz="1200" dirty="0">
                <a:solidFill>
                  <a:srgbClr val="556580"/>
                </a:solidFill>
                <a:latin typeface="Malgun Gothic"/>
              </a:rPr>
              <a:t>단순 근태관련 처리만 가능하던 구 인트라넷 시스템 의 기능을 확장하여 지출</a:t>
            </a:r>
            <a:r>
              <a:rPr lang="en-US" altLang="ko-KR" sz="1200" dirty="0">
                <a:solidFill>
                  <a:srgbClr val="556580"/>
                </a:solidFill>
                <a:latin typeface="Malgun Gothic"/>
              </a:rPr>
              <a:t>/</a:t>
            </a:r>
            <a:r>
              <a:rPr lang="ko-KR" altLang="en-US" sz="1200" dirty="0">
                <a:solidFill>
                  <a:srgbClr val="556580"/>
                </a:solidFill>
                <a:latin typeface="Malgun Gothic"/>
              </a:rPr>
              <a:t>결의</a:t>
            </a:r>
            <a:r>
              <a:rPr lang="en-US" altLang="ko-KR" sz="1200" dirty="0">
                <a:solidFill>
                  <a:srgbClr val="556580"/>
                </a:solidFill>
                <a:latin typeface="Malgun Gothic"/>
              </a:rPr>
              <a:t>, </a:t>
            </a:r>
            <a:r>
              <a:rPr lang="ko-KR" altLang="en-US" sz="1200" dirty="0">
                <a:solidFill>
                  <a:srgbClr val="556580"/>
                </a:solidFill>
                <a:latin typeface="Malgun Gothic"/>
              </a:rPr>
              <a:t>성과보고 와 같은 업무에 필요한 서비스 메뉴를 추가하고 </a:t>
            </a:r>
            <a:r>
              <a:rPr lang="en-US" altLang="ko-KR" sz="1200" dirty="0">
                <a:solidFill>
                  <a:srgbClr val="556580"/>
                </a:solidFill>
                <a:latin typeface="Malgun Gothic"/>
              </a:rPr>
              <a:t>, </a:t>
            </a:r>
            <a:r>
              <a:rPr lang="ko-KR" altLang="en-US" sz="1200" dirty="0">
                <a:solidFill>
                  <a:srgbClr val="556580"/>
                </a:solidFill>
                <a:latin typeface="Malgun Gothic"/>
              </a:rPr>
              <a:t> </a:t>
            </a:r>
            <a:r>
              <a:rPr lang="en-US" altLang="ko-KR" sz="1200" dirty="0">
                <a:solidFill>
                  <a:srgbClr val="556580"/>
                </a:solidFill>
                <a:latin typeface="Malgun Gothic"/>
              </a:rPr>
              <a:t>MSA</a:t>
            </a:r>
            <a:r>
              <a:rPr lang="ko-KR" altLang="en-US" sz="1200" dirty="0">
                <a:solidFill>
                  <a:srgbClr val="556580"/>
                </a:solidFill>
                <a:latin typeface="Malgun Gothic"/>
              </a:rPr>
              <a:t> 아키텍처의 확장이 용이한 구조로 프레임워크를 구축함으로써 좀 더 개선된 구조에 인트라넷 서비스를 구축하기 위함</a:t>
            </a:r>
            <a:endParaRPr sz="1200" b="0" dirty="0">
              <a:solidFill>
                <a:srgbClr val="556580"/>
              </a:solidFill>
              <a:latin typeface="Malgun Gothic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2920" y="2880360"/>
            <a:ext cx="3886200" cy="32918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898648"/>
            <a:ext cx="13716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1A254E"/>
                </a:solidFill>
                <a:latin typeface="Malgun Gothic"/>
              </a:rPr>
              <a:t>🗓 개발 기간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898648"/>
            <a:ext cx="2194560" cy="2051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lang="en-US" sz="1000" b="0" i="0" dirty="0">
                <a:solidFill>
                  <a:srgbClr val="556580"/>
                </a:solidFill>
                <a:latin typeface="Malgun Gothic"/>
              </a:rPr>
              <a:t>25/03 ~ 25/10	</a:t>
            </a:r>
            <a:endParaRPr sz="1000" b="0" i="0" dirty="0">
              <a:solidFill>
                <a:srgbClr val="556580"/>
              </a:solidFill>
              <a:latin typeface="Malgun Gothi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3264408"/>
            <a:ext cx="3886200" cy="32918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282696"/>
            <a:ext cx="13716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1A254E"/>
                </a:solidFill>
                <a:latin typeface="Malgun Gothic"/>
              </a:rPr>
              <a:t>👤 역할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282696"/>
            <a:ext cx="2194560" cy="2051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lang="ko-KR" altLang="en-US" sz="1000" b="0" i="0" dirty="0" err="1">
                <a:solidFill>
                  <a:srgbClr val="556580"/>
                </a:solidFill>
                <a:latin typeface="Malgun Gothic"/>
              </a:rPr>
              <a:t>풀스택</a:t>
            </a:r>
            <a:r>
              <a:rPr lang="ko-KR" altLang="en-US" sz="1000" b="0" i="0" dirty="0">
                <a:solidFill>
                  <a:srgbClr val="556580"/>
                </a:solidFill>
                <a:latin typeface="Malgun Gothic"/>
              </a:rPr>
              <a:t> 설계 </a:t>
            </a:r>
            <a:r>
              <a:rPr lang="en-US" altLang="ko-KR" sz="1000" b="0" i="0" dirty="0">
                <a:solidFill>
                  <a:srgbClr val="556580"/>
                </a:solidFill>
                <a:latin typeface="Malgun Gothic"/>
              </a:rPr>
              <a:t>/</a:t>
            </a:r>
            <a:r>
              <a:rPr lang="ko-KR" altLang="en-US" sz="1000" b="0" i="0" dirty="0">
                <a:solidFill>
                  <a:srgbClr val="556580"/>
                </a:solidFill>
                <a:latin typeface="Malgun Gothic"/>
              </a:rPr>
              <a:t>개발</a:t>
            </a:r>
            <a:endParaRPr sz="1000" b="0" i="0" dirty="0">
              <a:solidFill>
                <a:srgbClr val="556580"/>
              </a:solidFill>
              <a:latin typeface="Malgun Gothic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3648456"/>
            <a:ext cx="3886200" cy="32918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666744"/>
            <a:ext cx="13716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1A254E"/>
                </a:solidFill>
                <a:latin typeface="Malgun Gothic"/>
              </a:rPr>
              <a:t>🗄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666744"/>
            <a:ext cx="2194560" cy="2051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lang="en-US" sz="1000" dirty="0">
                <a:solidFill>
                  <a:srgbClr val="556580"/>
                </a:solidFill>
                <a:latin typeface="Malgun Gothic"/>
              </a:rPr>
              <a:t>PostgreSQL</a:t>
            </a:r>
            <a:endParaRPr sz="1000" b="0" i="0" dirty="0">
              <a:solidFill>
                <a:srgbClr val="556580"/>
              </a:solidFill>
              <a:latin typeface="Malgun Gothi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4032504"/>
            <a:ext cx="3886200" cy="32918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050791"/>
            <a:ext cx="13716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1A254E"/>
                </a:solidFill>
                <a:latin typeface="Malgun Gothic"/>
              </a:rPr>
              <a:t>🖥 프레임워크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050791"/>
            <a:ext cx="2194560" cy="2051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 dirty="0">
                <a:solidFill>
                  <a:srgbClr val="556580"/>
                </a:solidFill>
                <a:latin typeface="Malgun Gothic"/>
              </a:rPr>
              <a:t>Spring Boot </a:t>
            </a:r>
            <a:r>
              <a:rPr lang="en-US" sz="1000" b="0" i="0" dirty="0">
                <a:solidFill>
                  <a:srgbClr val="556580"/>
                </a:solidFill>
                <a:latin typeface="Malgun Gothic"/>
              </a:rPr>
              <a:t>4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.x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416552"/>
            <a:ext cx="3886200" cy="329184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434840"/>
            <a:ext cx="13716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1A254E"/>
                </a:solidFill>
                <a:latin typeface="Malgun Gothic"/>
              </a:rPr>
              <a:t>🎨 프론트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4434840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Thymeleaf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+ Vanilla JS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960120"/>
            <a:ext cx="40690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7" name="Rectangle 26"/>
          <p:cNvSpPr/>
          <p:nvPr/>
        </p:nvSpPr>
        <p:spPr>
          <a:xfrm>
            <a:off x="4754880" y="960120"/>
            <a:ext cx="64008" cy="3840480"/>
          </a:xfrm>
          <a:prstGeom prst="rect">
            <a:avLst/>
          </a:prstGeom>
          <a:solidFill>
            <a:srgbClr val="2E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83480" y="1051560"/>
            <a:ext cx="3657600" cy="34747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400" b="1" i="0">
                <a:solidFill>
                  <a:srgbClr val="1A254E"/>
                </a:solidFill>
                <a:latin typeface="Malgun Gothic"/>
              </a:rPr>
              <a:t>주요 구현 기능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1481328"/>
            <a:ext cx="457200" cy="45720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60" y="1481328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  <a:latin typeface="Malgun Gothic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1499616"/>
            <a:ext cx="3154680" cy="23596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lang="ko-KR" altLang="en-US" sz="1200" b="1">
                <a:solidFill>
                  <a:srgbClr val="1A254E"/>
                </a:solidFill>
                <a:latin typeface="Malgun Gothic"/>
              </a:rPr>
              <a:t>근태 관리 시스템</a:t>
            </a:r>
            <a:endParaRPr sz="1200" b="1" i="0" dirty="0">
              <a:solidFill>
                <a:srgbClr val="1A254E"/>
              </a:solidFill>
              <a:latin typeface="Malgun Gothi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86400" y="1755648"/>
            <a:ext cx="3154680" cy="2051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lang="ko-KR" altLang="en-US" sz="1000" b="0" i="0" dirty="0">
                <a:solidFill>
                  <a:srgbClr val="556580"/>
                </a:solidFill>
                <a:latin typeface="Malgun Gothic"/>
              </a:rPr>
              <a:t>일별 근태 현황 확인 및 정보수정 기능 구현</a:t>
            </a:r>
            <a:endParaRPr sz="1000" b="0" i="0" dirty="0">
              <a:solidFill>
                <a:srgbClr val="556580"/>
              </a:solidFill>
              <a:latin typeface="Malgun Gothic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937760" y="2350008"/>
            <a:ext cx="457200" cy="45720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7760" y="2350008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  <a:latin typeface="Malgun Gothic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2368296"/>
            <a:ext cx="3154680" cy="23596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1A254E"/>
                </a:solidFill>
                <a:latin typeface="Malgun Gothic"/>
              </a:rPr>
              <a:t>배치</a:t>
            </a:r>
            <a:r>
              <a:rPr lang="en-US" altLang="ko-KR" sz="1200" b="1" dirty="0">
                <a:solidFill>
                  <a:srgbClr val="1A254E"/>
                </a:solidFill>
                <a:latin typeface="Malgun Gothic"/>
              </a:rPr>
              <a:t>/</a:t>
            </a:r>
            <a:r>
              <a:rPr lang="ko-KR" altLang="en-US" sz="1200" b="1" dirty="0">
                <a:solidFill>
                  <a:srgbClr val="1A254E"/>
                </a:solidFill>
                <a:latin typeface="Malgun Gothic"/>
              </a:rPr>
              <a:t>스케줄러 </a:t>
            </a:r>
            <a:endParaRPr sz="1200" b="1" i="0" dirty="0">
              <a:solidFill>
                <a:srgbClr val="1A254E"/>
              </a:solidFill>
              <a:latin typeface="Malgun Gothic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0" y="2624328"/>
            <a:ext cx="3154680" cy="2051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lang="ko-KR" altLang="en-US" sz="1000" b="0" i="0" dirty="0">
                <a:solidFill>
                  <a:srgbClr val="556580"/>
                </a:solidFill>
                <a:latin typeface="Malgun Gothic"/>
              </a:rPr>
              <a:t>타 </a:t>
            </a:r>
            <a:r>
              <a:rPr lang="en-US" altLang="ko-KR" sz="1000" b="0" i="0" dirty="0">
                <a:solidFill>
                  <a:srgbClr val="556580"/>
                </a:solidFill>
                <a:latin typeface="Malgun Gothic"/>
              </a:rPr>
              <a:t>DB </a:t>
            </a:r>
            <a:r>
              <a:rPr lang="ko-KR" altLang="en-US" sz="1000" b="0" i="0" dirty="0">
                <a:solidFill>
                  <a:srgbClr val="556580"/>
                </a:solidFill>
                <a:latin typeface="Malgun Gothic"/>
              </a:rPr>
              <a:t>데이터 인터페이스 기능 및 배치 스케줄러 구현</a:t>
            </a:r>
            <a:endParaRPr sz="1000" b="0" i="0" dirty="0">
              <a:solidFill>
                <a:srgbClr val="556580"/>
              </a:solidFill>
              <a:latin typeface="Malgun Gothic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4937760" y="3218688"/>
            <a:ext cx="457200" cy="45720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37760" y="3218688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200" b="1" i="0" dirty="0">
                <a:solidFill>
                  <a:srgbClr val="F5A623"/>
                </a:solidFill>
                <a:latin typeface="Malgun Gothic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3236976"/>
            <a:ext cx="3154680" cy="23596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1A254E"/>
                </a:solidFill>
                <a:latin typeface="Malgun Gothic"/>
              </a:rPr>
              <a:t>공통 검색 기능 개발</a:t>
            </a:r>
            <a:r>
              <a:rPr lang="en-US" altLang="ko-KR" sz="1200" b="1" dirty="0">
                <a:solidFill>
                  <a:srgbClr val="1A254E"/>
                </a:solidFill>
                <a:latin typeface="Malgun Gothic"/>
              </a:rPr>
              <a:t>	</a:t>
            </a:r>
            <a:endParaRPr sz="1200" b="1" i="0" dirty="0">
              <a:solidFill>
                <a:srgbClr val="1A254E"/>
              </a:solidFill>
              <a:latin typeface="Malgun Gothic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486400" y="3493008"/>
            <a:ext cx="3154680" cy="2051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lang="ko-KR" altLang="en-US" sz="1000" b="0" i="0" dirty="0">
                <a:solidFill>
                  <a:srgbClr val="556580"/>
                </a:solidFill>
                <a:latin typeface="Malgun Gothic"/>
              </a:rPr>
              <a:t>트리 그리드 데이터 검색 기능 개발</a:t>
            </a:r>
            <a:endParaRPr sz="1000" b="0" i="0" dirty="0">
              <a:solidFill>
                <a:srgbClr val="556580"/>
              </a:solidFill>
              <a:latin typeface="Malgun Gothic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937760" y="4087368"/>
            <a:ext cx="457200" cy="45720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37760" y="4087368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  <a:latin typeface="Malgun Gothic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4105655"/>
            <a:ext cx="3154680" cy="23596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1A254E"/>
                </a:solidFill>
                <a:latin typeface="Malgun Gothic"/>
              </a:rPr>
              <a:t>다국어지원</a:t>
            </a:r>
            <a:endParaRPr sz="1200" b="1" i="0" dirty="0">
              <a:solidFill>
                <a:srgbClr val="1A254E"/>
              </a:solidFill>
              <a:latin typeface="Malgun Gothic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86400" y="4361688"/>
            <a:ext cx="3154680" cy="2051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lang="ko-KR" altLang="en-US" sz="1000" b="0" i="0" dirty="0">
                <a:solidFill>
                  <a:srgbClr val="556580"/>
                </a:solidFill>
                <a:latin typeface="Malgun Gothic"/>
              </a:rPr>
              <a:t>시스템 다국어 설정 적용</a:t>
            </a:r>
            <a:endParaRPr sz="1000" b="0" i="0" dirty="0">
              <a:solidFill>
                <a:srgbClr val="556580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6400800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시스템</a:t>
            </a:r>
            <a:r>
              <a:rPr sz="22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아키텍처</a:t>
            </a:r>
            <a:endParaRPr sz="22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0" y="164592"/>
            <a:ext cx="19202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1000" b="0" i="0">
                <a:solidFill>
                  <a:srgbClr val="AABBDD"/>
                </a:solidFill>
                <a:latin typeface="Malgun Gothic"/>
              </a:rP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4754880" cy="1371600"/>
          </a:xfrm>
          <a:prstGeom prst="rect">
            <a:avLst/>
          </a:prstGeom>
          <a:solidFill>
            <a:srgbClr val="21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4480560" cy="38404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🌐  Presentation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4480560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Malgun Gothic"/>
              </a:rPr>
              <a:t>Thymeleaf 화면 · REST 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743200"/>
            <a:ext cx="4754880" cy="1371600"/>
          </a:xfrm>
          <a:prstGeom prst="rect">
            <a:avLst/>
          </a:prstGeom>
          <a:solidFill>
            <a:srgbClr val="14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4480560" cy="38404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⚙️   Business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46120"/>
            <a:ext cx="4480560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  <a:latin typeface="Malgun Gothic"/>
              </a:rPr>
              <a:t>Service · Spring Batch · Scheduler · 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297680"/>
            <a:ext cx="4754880" cy="137160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389120"/>
            <a:ext cx="4480560" cy="38404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algun Gothic"/>
              </a:rPr>
              <a:t>🗄   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00600"/>
            <a:ext cx="4480560" cy="220573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 dirty="0">
                <a:solidFill>
                  <a:srgbClr val="CCDDFF"/>
                </a:solidFill>
                <a:latin typeface="Malgun Gothic"/>
              </a:rPr>
              <a:t>MySQL · </a:t>
            </a:r>
            <a:r>
              <a:rPr sz="1100" b="0" i="0" dirty="0" err="1">
                <a:solidFill>
                  <a:srgbClr val="CCDDFF"/>
                </a:solidFill>
                <a:latin typeface="Malgun Gothic"/>
              </a:rPr>
              <a:t>MyBatis</a:t>
            </a:r>
            <a:r>
              <a:rPr sz="1100" b="0" i="0" dirty="0">
                <a:solidFill>
                  <a:srgbClr val="CCDDFF"/>
                </a:solidFill>
                <a:latin typeface="Malgun Gothic"/>
              </a:rPr>
              <a:t> · NAS(CSV </a:t>
            </a:r>
            <a:r>
              <a:rPr sz="1100" b="0" i="0" dirty="0" err="1">
                <a:solidFill>
                  <a:srgbClr val="CCDDFF"/>
                </a:solidFill>
                <a:latin typeface="Malgun Gothic"/>
              </a:rPr>
              <a:t>파일</a:t>
            </a:r>
            <a:r>
              <a:rPr sz="1100" b="0" i="0" dirty="0">
                <a:solidFill>
                  <a:srgbClr val="CCDDFF"/>
                </a:solidFill>
                <a:latin typeface="Malgun Gothic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286000"/>
            <a:ext cx="36576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  <a:latin typeface="Malgun Gothic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3840480"/>
            <a:ext cx="36576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600" b="1" i="0">
                <a:solidFill>
                  <a:srgbClr val="F5A623"/>
                </a:solidFill>
                <a:latin typeface="Malgun Gothic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914400"/>
            <a:ext cx="33375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0" y="914400"/>
            <a:ext cx="3337560" cy="41148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23560" y="969264"/>
            <a:ext cx="301752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algun Gothic"/>
              </a:rPr>
              <a:t>외부 연동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1463040"/>
            <a:ext cx="306324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87568" y="1572768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000" b="0" i="0">
                <a:latin typeface="Segoe UI Emoji"/>
              </a:rPr>
              <a:t>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1572768"/>
            <a:ext cx="2377440" cy="23596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1" i="0" dirty="0">
                <a:solidFill>
                  <a:srgbClr val="1A254E"/>
                </a:solidFill>
                <a:latin typeface="Malgun Gothic"/>
              </a:rPr>
              <a:t>SMTP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1874520"/>
            <a:ext cx="237744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JavaMailSender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통해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HTML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메일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발송</a:t>
            </a:r>
            <a:endParaRPr sz="1000" b="0" i="0" dirty="0">
              <a:solidFill>
                <a:srgbClr val="556580"/>
              </a:solidFill>
              <a:latin typeface="Malgun Gothi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74920" y="1719072"/>
            <a:ext cx="41148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400" b="0" i="0">
                <a:solidFill>
                  <a:srgbClr val="F5A623"/>
                </a:solidFill>
                <a:latin typeface="Malgun Gothic"/>
              </a:rPr>
              <a:t>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2514600"/>
            <a:ext cx="306324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87568" y="2624328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000" b="0" i="0">
                <a:latin typeface="Segoe UI Emoji"/>
              </a:rPr>
              <a:t>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624328"/>
            <a:ext cx="237744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1" i="0">
                <a:solidFill>
                  <a:srgbClr val="1A254E"/>
                </a:solidFill>
                <a:latin typeface="Malgun Gothic"/>
              </a:rPr>
              <a:t>NAS 파일서버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926080"/>
            <a:ext cx="237744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CSV 파일 업로드 · 파싱 처리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2770632"/>
            <a:ext cx="41148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400" b="0" i="0">
                <a:solidFill>
                  <a:srgbClr val="F5A623"/>
                </a:solidFill>
                <a:latin typeface="Malgun Gothic"/>
              </a:rPr>
              <a:t>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23560" y="3566160"/>
            <a:ext cx="3063240" cy="9144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87568" y="3675887"/>
            <a:ext cx="45720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000" b="0" i="0">
                <a:latin typeface="Segoe UI Emoji"/>
              </a:rPr>
              <a:t>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675887"/>
            <a:ext cx="237744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1" i="0" dirty="0">
                <a:solidFill>
                  <a:srgbClr val="1A254E"/>
                </a:solidFill>
                <a:latin typeface="Malgun Gothic"/>
              </a:rPr>
              <a:t>Spring Batch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977639"/>
            <a:ext cx="237744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메타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테이블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자동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생성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(MySQL)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3822191"/>
            <a:ext cx="41148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400" b="0" i="0">
                <a:solidFill>
                  <a:srgbClr val="F5A623"/>
                </a:solidFill>
                <a:latin typeface="Malgun Gothic"/>
              </a:rPr>
              <a:t>⟷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E1B2CDBE-B994-2DAB-07AA-BC505C9CF2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7"/>
          <a:stretch>
            <a:fillRect/>
          </a:stretch>
        </p:blipFill>
        <p:spPr>
          <a:xfrm>
            <a:off x="46240" y="565277"/>
            <a:ext cx="5028680" cy="46285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6400800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핵심 기능 ① — Spring Batch 스케줄러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64592"/>
            <a:ext cx="19202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1000" b="0" i="0">
                <a:solidFill>
                  <a:srgbClr val="AABBDD"/>
                </a:solidFill>
                <a:latin typeface="Malgun Gothic"/>
              </a:rPr>
              <a:t>Batch Scheduler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1463040" cy="1572768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14630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2200" b="0" i="0">
                <a:latin typeface="Segoe UI Emoji"/>
              </a:rPr>
              <a:t>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44752"/>
            <a:ext cx="1463040" cy="34747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Scheduler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783080"/>
            <a:ext cx="1463040" cy="7315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900" b="0" i="0" dirty="0">
                <a:solidFill>
                  <a:srgbClr val="CCDDFF"/>
                </a:solidFill>
                <a:latin typeface="Malgun Gothic"/>
              </a:rPr>
              <a:t>@Scheduled
</a:t>
            </a:r>
            <a:r>
              <a:rPr sz="900" b="0" i="0" dirty="0" err="1">
                <a:solidFill>
                  <a:srgbClr val="CCDDFF"/>
                </a:solidFill>
                <a:latin typeface="Malgun Gothic"/>
              </a:rPr>
              <a:t>cron</a:t>
            </a:r>
            <a:r>
              <a:rPr sz="900" b="0" i="0" dirty="0">
                <a:solidFill>
                  <a:srgbClr val="CCDDFF"/>
                </a:solidFill>
                <a:latin typeface="Malgun Gothic"/>
              </a:rPr>
              <a:t>: </a:t>
            </a:r>
            <a:r>
              <a:rPr sz="900" b="0" i="0" dirty="0" err="1">
                <a:solidFill>
                  <a:srgbClr val="CCDDFF"/>
                </a:solidFill>
                <a:latin typeface="Malgun Gothic"/>
              </a:rPr>
              <a:t>매일</a:t>
            </a:r>
            <a:r>
              <a:rPr sz="900" b="0" i="0" dirty="0">
                <a:solidFill>
                  <a:srgbClr val="CCDDFF"/>
                </a:solidFill>
                <a:latin typeface="Malgun Gothic"/>
              </a:rPr>
              <a:t>
06:30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54480"/>
            <a:ext cx="246888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  <a:latin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8528" y="960120"/>
            <a:ext cx="1463040" cy="1572768"/>
          </a:xfrm>
          <a:prstGeom prst="rect">
            <a:avLst/>
          </a:prstGeom>
          <a:solidFill>
            <a:srgbClr val="2E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38528" y="1005840"/>
            <a:ext cx="14630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2200" b="0" i="0">
                <a:latin typeface="Segoe UI Emoji"/>
              </a:rPr>
              <a:t>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1444752"/>
            <a:ext cx="1463040" cy="34747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Malgun Gothic"/>
              </a:rPr>
              <a:t>JobLauncher</a:t>
            </a:r>
            <a:endParaRPr sz="11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38528" y="1783080"/>
            <a:ext cx="1463040" cy="7315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900" b="0" i="0" dirty="0">
                <a:solidFill>
                  <a:srgbClr val="CCDDFF"/>
                </a:solidFill>
                <a:latin typeface="Malgun Gothic"/>
              </a:rPr>
              <a:t>Job </a:t>
            </a:r>
            <a:r>
              <a:rPr sz="900" b="0" i="0" dirty="0" err="1">
                <a:solidFill>
                  <a:srgbClr val="CCDDFF"/>
                </a:solidFill>
                <a:latin typeface="Malgun Gothic"/>
              </a:rPr>
              <a:t>실행</a:t>
            </a:r>
            <a:r>
              <a:rPr sz="900" b="0" i="0" dirty="0">
                <a:solidFill>
                  <a:srgbClr val="CCDDFF"/>
                </a:solidFill>
                <a:latin typeface="Malgun Gothic"/>
              </a:rPr>
              <a:t>
(</a:t>
            </a:r>
            <a:r>
              <a:rPr sz="900" b="0" i="0" dirty="0" err="1">
                <a:solidFill>
                  <a:srgbClr val="CCDDFF"/>
                </a:solidFill>
                <a:latin typeface="Malgun Gothic"/>
              </a:rPr>
              <a:t>고유</a:t>
            </a:r>
            <a:r>
              <a:rPr sz="900" b="0" i="0" dirty="0">
                <a:solidFill>
                  <a:srgbClr val="CCDDFF"/>
                </a:solidFill>
                <a:latin typeface="Malgun Gothic"/>
              </a:rPr>
              <a:t> </a:t>
            </a:r>
            <a:r>
              <a:rPr sz="900" b="0" i="0" dirty="0" err="1">
                <a:solidFill>
                  <a:srgbClr val="CCDDFF"/>
                </a:solidFill>
                <a:latin typeface="Malgun Gothic"/>
              </a:rPr>
              <a:t>파라미터</a:t>
            </a:r>
            <a:r>
              <a:rPr sz="900" b="0" i="0" dirty="0">
                <a:solidFill>
                  <a:srgbClr val="CCDDFF"/>
                </a:solidFill>
                <a:latin typeface="Malgun Gothic"/>
              </a:rPr>
              <a:t>
</a:t>
            </a:r>
            <a:r>
              <a:rPr sz="900" b="0" i="0" dirty="0" err="1">
                <a:solidFill>
                  <a:srgbClr val="CCDDFF"/>
                </a:solidFill>
                <a:latin typeface="Malgun Gothic"/>
              </a:rPr>
              <a:t>포함</a:t>
            </a:r>
            <a:r>
              <a:rPr sz="900" b="0" i="0" dirty="0">
                <a:solidFill>
                  <a:srgbClr val="CCDDFF"/>
                </a:solidFill>
                <a:latin typeface="Malgun Gothic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554480"/>
            <a:ext cx="246888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  <a:latin typeface="Malgun Gothi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2736" y="960120"/>
            <a:ext cx="1463040" cy="1572768"/>
          </a:xfrm>
          <a:prstGeom prst="rect">
            <a:avLst/>
          </a:prstGeom>
          <a:solidFill>
            <a:srgbClr val="167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02736" y="1005840"/>
            <a:ext cx="14630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2200" b="0" i="0" dirty="0">
                <a:latin typeface="Segoe UI Emoji"/>
              </a:rPr>
              <a:t>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2736" y="1444752"/>
            <a:ext cx="1463040" cy="34747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ItemReader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2736" y="1783080"/>
            <a:ext cx="1463040" cy="328295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lang="en-US" sz="900" b="0" i="0" dirty="0">
                <a:solidFill>
                  <a:srgbClr val="CCDDFF"/>
                </a:solidFill>
                <a:latin typeface="Malgun Gothic"/>
              </a:rPr>
              <a:t>MSSQL(</a:t>
            </a:r>
            <a:r>
              <a:rPr lang="ko-KR" altLang="en-US" sz="900" b="0" i="0" dirty="0" err="1">
                <a:solidFill>
                  <a:srgbClr val="CCDDFF"/>
                </a:solidFill>
                <a:latin typeface="Malgun Gothic"/>
              </a:rPr>
              <a:t>캡스</a:t>
            </a:r>
            <a:r>
              <a:rPr lang="en-US" altLang="ko-KR" sz="900" b="0" i="0" dirty="0">
                <a:solidFill>
                  <a:srgbClr val="CCDDFF"/>
                </a:solidFill>
                <a:latin typeface="Malgun Gothic"/>
              </a:rPr>
              <a:t>DB) </a:t>
            </a:r>
            <a:r>
              <a:rPr lang="ko-KR" altLang="en-US" sz="900" b="0" i="0" dirty="0">
                <a:solidFill>
                  <a:srgbClr val="CCDDFF"/>
                </a:solidFill>
                <a:latin typeface="Malgun Gothic"/>
              </a:rPr>
              <a:t>조회</a:t>
            </a:r>
            <a:br>
              <a:rPr lang="en-US" altLang="ko-KR" sz="900" dirty="0">
                <a:solidFill>
                  <a:srgbClr val="CCDDFF"/>
                </a:solidFill>
                <a:latin typeface="Malgun Gothic"/>
              </a:rPr>
            </a:br>
            <a:r>
              <a:rPr lang="en-US" altLang="ko-KR" sz="900" dirty="0">
                <a:solidFill>
                  <a:srgbClr val="CCDDFF"/>
                </a:solidFill>
                <a:latin typeface="Malgun Gothic"/>
              </a:rPr>
              <a:t> </a:t>
            </a:r>
            <a:endParaRPr sz="900" b="0" i="0" dirty="0">
              <a:solidFill>
                <a:srgbClr val="CCDDFF"/>
              </a:solidFill>
              <a:latin typeface="Malgun Gothi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65776" y="1554480"/>
            <a:ext cx="246888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  <a:latin typeface="Malgun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66944" y="960120"/>
            <a:ext cx="1463040" cy="1572768"/>
          </a:xfrm>
          <a:prstGeom prst="rect">
            <a:avLst/>
          </a:prstGeom>
          <a:solidFill>
            <a:srgbClr val="874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66944" y="1005840"/>
            <a:ext cx="14630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2200" b="0" i="0">
                <a:latin typeface="Segoe UI Emoji"/>
              </a:rP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1444752"/>
            <a:ext cx="1463040" cy="34747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ItemProcessor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1783080"/>
            <a:ext cx="1463040" cy="328295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lang="ko-KR" altLang="en-US" sz="900" dirty="0" err="1">
                <a:solidFill>
                  <a:srgbClr val="CCDDFF"/>
                </a:solidFill>
                <a:latin typeface="Malgun Gothic"/>
              </a:rPr>
              <a:t>캡스</a:t>
            </a:r>
            <a:r>
              <a:rPr lang="ko-KR" altLang="en-US" sz="900" dirty="0">
                <a:solidFill>
                  <a:srgbClr val="CCDDFF"/>
                </a:solidFill>
                <a:latin typeface="Malgun Gothic"/>
              </a:rPr>
              <a:t> 데이터 적재</a:t>
            </a:r>
            <a:br>
              <a:rPr lang="en-US" altLang="ko-KR" sz="900" dirty="0">
                <a:solidFill>
                  <a:srgbClr val="CCDDFF"/>
                </a:solidFill>
                <a:latin typeface="Malgun Gothic"/>
              </a:rPr>
            </a:br>
            <a:r>
              <a:rPr lang="en-US" altLang="ko-KR" sz="900" dirty="0">
                <a:solidFill>
                  <a:srgbClr val="CCDDFF"/>
                </a:solidFill>
                <a:latin typeface="Malgun Gothic"/>
              </a:rPr>
              <a:t>(</a:t>
            </a:r>
            <a:r>
              <a:rPr lang="ko-KR" altLang="en-US" sz="900" dirty="0">
                <a:solidFill>
                  <a:srgbClr val="CCDDFF"/>
                </a:solidFill>
                <a:latin typeface="Malgun Gothic"/>
              </a:rPr>
              <a:t>인터페이스 테이블</a:t>
            </a:r>
            <a:r>
              <a:rPr lang="en-US" altLang="ko-KR" sz="900" dirty="0">
                <a:solidFill>
                  <a:srgbClr val="CCDDFF"/>
                </a:solidFill>
                <a:latin typeface="Malgun Gothic"/>
              </a:rPr>
              <a:t>)</a:t>
            </a:r>
            <a:endParaRPr sz="900" b="0" i="0" dirty="0">
              <a:solidFill>
                <a:srgbClr val="CCDDFF"/>
              </a:solidFill>
              <a:latin typeface="Malgun Gothi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29983" y="1554480"/>
            <a:ext cx="246888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400" b="1" i="0">
                <a:solidFill>
                  <a:srgbClr val="F5A623"/>
                </a:solidFill>
                <a:latin typeface="Malgun Gothic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31152" y="960120"/>
            <a:ext cx="1463040" cy="15727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31152" y="1005840"/>
            <a:ext cx="14630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2200" b="0" i="0" dirty="0">
                <a:latin typeface="Segoe UI Emoji"/>
              </a:rPr>
              <a:t>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1444752"/>
            <a:ext cx="1463040" cy="34747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 i="0" dirty="0" err="1">
                <a:solidFill>
                  <a:srgbClr val="FFFFFF"/>
                </a:solidFill>
                <a:latin typeface="Malgun Gothic"/>
              </a:rPr>
              <a:t>ItemWriter</a:t>
            </a:r>
            <a:endParaRPr sz="11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31152" y="1783080"/>
            <a:ext cx="1463040" cy="189796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lang="ko-KR" altLang="en-US" sz="900" dirty="0">
                <a:solidFill>
                  <a:srgbClr val="CCDDFF"/>
                </a:solidFill>
                <a:latin typeface="Malgun Gothic"/>
              </a:rPr>
              <a:t>근태 수정 서비스 호출</a:t>
            </a:r>
            <a:endParaRPr sz="900" b="0" i="0" dirty="0">
              <a:solidFill>
                <a:srgbClr val="CCDDFF"/>
              </a:solidFill>
              <a:latin typeface="Malgun Gothi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20040" y="2697480"/>
            <a:ext cx="8503920" cy="3291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1" i="0">
                <a:solidFill>
                  <a:srgbClr val="1A254E"/>
                </a:solidFill>
                <a:latin typeface="Malgun Gothic"/>
              </a:rPr>
              <a:t>설계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090672"/>
            <a:ext cx="278892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3090672"/>
            <a:ext cx="64008" cy="16642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1207" y="3154680"/>
            <a:ext cx="25146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 dirty="0">
                <a:solidFill>
                  <a:srgbClr val="1A254E"/>
                </a:solidFill>
                <a:latin typeface="Malgun Gothic"/>
              </a:rPr>
              <a:t>✅ </a:t>
            </a:r>
            <a:r>
              <a:rPr sz="1100" b="1" i="0" dirty="0" err="1">
                <a:solidFill>
                  <a:srgbClr val="1A254E"/>
                </a:solidFill>
                <a:latin typeface="Malgun Gothic"/>
              </a:rPr>
              <a:t>중복</a:t>
            </a:r>
            <a:r>
              <a:rPr sz="1100" b="1" i="0" dirty="0">
                <a:solidFill>
                  <a:srgbClr val="1A254E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1A254E"/>
                </a:solidFill>
                <a:latin typeface="Malgun Gothic"/>
              </a:rPr>
              <a:t>실행</a:t>
            </a:r>
            <a:r>
              <a:rPr sz="1100" b="1" i="0" dirty="0">
                <a:solidFill>
                  <a:srgbClr val="1A254E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1A254E"/>
                </a:solidFill>
                <a:latin typeface="Malgun Gothic"/>
              </a:rPr>
              <a:t>방지</a:t>
            </a:r>
            <a:endParaRPr sz="1100" b="1" i="0" dirty="0">
              <a:solidFill>
                <a:srgbClr val="1A254E"/>
              </a:solidFill>
              <a:latin typeface="Malgun Gothi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21207" y="3520440"/>
            <a:ext cx="2514600" cy="11430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JobParameters에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실행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시각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(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runAt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)을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추가하여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매번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
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고유한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JobInstance로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인식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→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동일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Job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재실행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허용</a:t>
            </a:r>
            <a:endParaRPr sz="1000" b="0" i="0" dirty="0">
              <a:solidFill>
                <a:srgbClr val="556580"/>
              </a:solidFill>
              <a:latin typeface="Malgun Gothic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264408" y="3090672"/>
            <a:ext cx="278892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64408" y="3090672"/>
            <a:ext cx="64008" cy="16642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65576" y="3154680"/>
            <a:ext cx="25146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 dirty="0">
                <a:solidFill>
                  <a:srgbClr val="1A254E"/>
                </a:solidFill>
                <a:latin typeface="Malgun Gothic"/>
              </a:rPr>
              <a:t>✅ Chunk 100건 </a:t>
            </a:r>
            <a:r>
              <a:rPr sz="1100" b="1" i="0" dirty="0" err="1">
                <a:solidFill>
                  <a:srgbClr val="1A254E"/>
                </a:solidFill>
                <a:latin typeface="Malgun Gothic"/>
              </a:rPr>
              <a:t>처리</a:t>
            </a:r>
            <a:endParaRPr sz="1100" b="1" i="0" dirty="0">
              <a:solidFill>
                <a:srgbClr val="1A254E"/>
              </a:solidFill>
              <a:latin typeface="Malgun Gothi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465576" y="3520440"/>
            <a:ext cx="2514600" cy="11430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전체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데이터를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메모리에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올리지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않고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100건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단위로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
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처리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→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OutOfMemoryError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방지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,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메모리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효율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확보</a:t>
            </a:r>
            <a:endParaRPr sz="1000" b="0" i="0" dirty="0">
              <a:solidFill>
                <a:srgbClr val="556580"/>
              </a:solidFill>
              <a:latin typeface="Malgun Gothic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208776" y="3090672"/>
            <a:ext cx="2788920" cy="16642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08776" y="3090672"/>
            <a:ext cx="64008" cy="16642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9944" y="3154680"/>
            <a:ext cx="25146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 dirty="0">
                <a:solidFill>
                  <a:srgbClr val="1A254E"/>
                </a:solidFill>
                <a:latin typeface="Malgun Gothic"/>
              </a:rPr>
              <a:t>✅ </a:t>
            </a:r>
            <a:r>
              <a:rPr sz="1100" b="1" i="0" dirty="0" err="1">
                <a:solidFill>
                  <a:srgbClr val="1A254E"/>
                </a:solidFill>
                <a:latin typeface="Malgun Gothic"/>
              </a:rPr>
              <a:t>개별</a:t>
            </a:r>
            <a:r>
              <a:rPr sz="1100" b="1" i="0" dirty="0">
                <a:solidFill>
                  <a:srgbClr val="1A254E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1A254E"/>
                </a:solidFill>
                <a:latin typeface="Malgun Gothic"/>
              </a:rPr>
              <a:t>실패</a:t>
            </a:r>
            <a:r>
              <a:rPr sz="1100" b="1" i="0" dirty="0">
                <a:solidFill>
                  <a:srgbClr val="1A254E"/>
                </a:solidFill>
                <a:latin typeface="Malgun Gothic"/>
              </a:rPr>
              <a:t> </a:t>
            </a:r>
            <a:r>
              <a:rPr sz="1100" b="1" i="0" dirty="0" err="1">
                <a:solidFill>
                  <a:srgbClr val="1A254E"/>
                </a:solidFill>
                <a:latin typeface="Malgun Gothic"/>
              </a:rPr>
              <a:t>격리</a:t>
            </a:r>
            <a:endParaRPr sz="1100" b="1" i="0" dirty="0">
              <a:solidFill>
                <a:srgbClr val="1A254E"/>
              </a:solidFill>
              <a:latin typeface="Malgun Gothic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9944" y="3520440"/>
            <a:ext cx="2514600" cy="359073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ItemWriter에서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lang="ko-KR" altLang="en-US" sz="1000" b="0" i="0" dirty="0">
                <a:solidFill>
                  <a:srgbClr val="556580"/>
                </a:solidFill>
                <a:latin typeface="Malgun Gothic"/>
              </a:rPr>
              <a:t>호출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i="0" dirty="0" err="1">
                <a:solidFill>
                  <a:srgbClr val="556580"/>
                </a:solidFill>
                <a:latin typeface="Malgun Gothic"/>
              </a:rPr>
              <a:t>실패</a:t>
            </a:r>
            <a:r>
              <a:rPr sz="1000" b="0" i="0" dirty="0">
                <a:solidFill>
                  <a:srgbClr val="556580"/>
                </a:solidFill>
                <a:latin typeface="Malgun Gothic"/>
              </a:rPr>
              <a:t> 시 </a:t>
            </a:r>
            <a:r>
              <a:rPr lang="ko-KR" altLang="en-US" sz="1000" b="0" i="0" dirty="0" err="1">
                <a:solidFill>
                  <a:srgbClr val="556580"/>
                </a:solidFill>
                <a:latin typeface="Malgun Gothic"/>
              </a:rPr>
              <a:t>로그남기고</a:t>
            </a:r>
            <a:r>
              <a:rPr lang="ko-KR" altLang="en-US" sz="1000" b="0" i="0" dirty="0">
                <a:solidFill>
                  <a:srgbClr val="556580"/>
                </a:solidFill>
                <a:latin typeface="Malgun Gothic"/>
              </a:rPr>
              <a:t> 종료</a:t>
            </a:r>
            <a:endParaRPr lang="en-US" sz="1000" dirty="0">
              <a:solidFill>
                <a:srgbClr val="556580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59" y="109728"/>
            <a:ext cx="6982491" cy="38985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핵심</a:t>
            </a:r>
            <a:r>
              <a:rPr sz="22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기능</a:t>
            </a:r>
            <a:r>
              <a:rPr sz="2200" b="1" i="0" dirty="0">
                <a:solidFill>
                  <a:srgbClr val="FFFFFF"/>
                </a:solidFill>
                <a:latin typeface="Malgun Gothic"/>
              </a:rPr>
              <a:t> ② — </a:t>
            </a:r>
            <a:r>
              <a:rPr lang="ko-KR" altLang="en-US" sz="2200" b="1" i="0" dirty="0">
                <a:solidFill>
                  <a:srgbClr val="FFFFFF"/>
                </a:solidFill>
                <a:latin typeface="Malgun Gothic"/>
              </a:rPr>
              <a:t>근태정보 수정 </a:t>
            </a:r>
            <a:r>
              <a:rPr lang="en-US" altLang="ko-KR" sz="2200" b="1" i="0" dirty="0">
                <a:solidFill>
                  <a:srgbClr val="FFFFFF"/>
                </a:solidFill>
                <a:latin typeface="Malgun Gothic"/>
              </a:rPr>
              <a:t>(</a:t>
            </a:r>
            <a:r>
              <a:rPr lang="ko-KR" altLang="en-US" sz="2200" b="1" i="0" dirty="0">
                <a:solidFill>
                  <a:srgbClr val="FFFFFF"/>
                </a:solidFill>
                <a:latin typeface="Malgun Gothic"/>
              </a:rPr>
              <a:t>퇴근정보반영</a:t>
            </a:r>
            <a:r>
              <a:rPr lang="en-US" altLang="ko-KR" sz="2200" b="1" dirty="0">
                <a:solidFill>
                  <a:srgbClr val="FFFFFF"/>
                </a:solidFill>
                <a:latin typeface="Malgun Gothic"/>
              </a:rPr>
              <a:t>)</a:t>
            </a:r>
            <a:endParaRPr sz="22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0" y="164592"/>
            <a:ext cx="19202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1000" b="0" i="0">
                <a:solidFill>
                  <a:srgbClr val="AABBDD"/>
                </a:solidFill>
                <a:latin typeface="Malgun Gothic"/>
              </a:rPr>
              <a:t>Mail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8503920" cy="347472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8229600" cy="23596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lang="ko-KR" altLang="en-US" sz="1200" b="1" dirty="0">
                <a:solidFill>
                  <a:srgbClr val="FFFFFF"/>
                </a:solidFill>
                <a:latin typeface="Malgun Gothic"/>
              </a:rPr>
              <a:t>흐름</a:t>
            </a:r>
            <a:endParaRPr sz="12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7472" y="1371600"/>
            <a:ext cx="1481328" cy="68580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" y="1371600"/>
            <a:ext cx="1481328" cy="359073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FFFFFF"/>
                </a:solidFill>
                <a:latin typeface="Malgun Gothic"/>
              </a:rPr>
              <a:t>반영 대상자 </a:t>
            </a:r>
            <a:r>
              <a:rPr lang="en-US" altLang="ko-KR" sz="1000" b="1" i="0" dirty="0">
                <a:solidFill>
                  <a:srgbClr val="FFFFFF"/>
                </a:solidFill>
                <a:latin typeface="Malgun Gothic"/>
              </a:rPr>
              <a:t>DB </a:t>
            </a:r>
            <a:r>
              <a:rPr lang="ko-KR" altLang="en-US" sz="1000" b="1" i="0" dirty="0">
                <a:solidFill>
                  <a:srgbClr val="FFFFFF"/>
                </a:solidFill>
                <a:latin typeface="Malgun Gothic"/>
              </a:rPr>
              <a:t>조회</a:t>
            </a:r>
            <a:br>
              <a:rPr lang="en-US" altLang="ko-KR" sz="1000" b="1" i="0" dirty="0">
                <a:solidFill>
                  <a:srgbClr val="FFFFFF"/>
                </a:solidFill>
                <a:latin typeface="Malgun Gothic"/>
              </a:rPr>
            </a:br>
            <a:endParaRPr lang="en-US" altLang="ko-KR" sz="10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28800" y="1572768"/>
            <a:ext cx="201168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371600"/>
            <a:ext cx="1481328" cy="685800"/>
          </a:xfrm>
          <a:prstGeom prst="rect">
            <a:avLst/>
          </a:prstGeom>
          <a:solidFill>
            <a:srgbClr val="2E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011680" y="1371600"/>
            <a:ext cx="1481328" cy="2051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Malgun Gothic"/>
              </a:rPr>
              <a:t>SetOffInfoService.java</a:t>
            </a:r>
            <a:endParaRPr sz="10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93008" y="1572768"/>
            <a:ext cx="201168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Malgun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75888" y="1371600"/>
            <a:ext cx="1481328" cy="685800"/>
          </a:xfrm>
          <a:prstGeom prst="rect">
            <a:avLst/>
          </a:prstGeom>
          <a:solidFill>
            <a:srgbClr val="167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75888" y="1371600"/>
            <a:ext cx="1481328" cy="6858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000" b="1" i="0" dirty="0" err="1">
                <a:solidFill>
                  <a:srgbClr val="FFFFFF"/>
                </a:solidFill>
                <a:latin typeface="Malgun Gothic"/>
              </a:rPr>
              <a:t>MimeMessage</a:t>
            </a:r>
            <a:r>
              <a:rPr sz="1000" b="1" i="0" dirty="0">
                <a:solidFill>
                  <a:srgbClr val="FFFFFF"/>
                </a:solidFill>
                <a:latin typeface="Malgun Gothic"/>
              </a:rPr>
              <a:t>
</a:t>
            </a:r>
            <a:r>
              <a:rPr sz="1000" b="1" i="0" dirty="0" err="1">
                <a:solidFill>
                  <a:srgbClr val="FFFFFF"/>
                </a:solidFill>
                <a:latin typeface="Malgun Gothic"/>
              </a:rPr>
              <a:t>생성</a:t>
            </a:r>
            <a:r>
              <a:rPr sz="1000" b="1" i="0" dirty="0">
                <a:solidFill>
                  <a:srgbClr val="FFFFFF"/>
                </a:solidFill>
                <a:latin typeface="Malgun Gothic"/>
              </a:rPr>
              <a:t> (HTML)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1572768"/>
            <a:ext cx="201168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Malgun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0096" y="1371600"/>
            <a:ext cx="1481328" cy="685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0096" y="1371600"/>
            <a:ext cx="1481328" cy="20518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Malgun Gothic"/>
              </a:rPr>
              <a:t>SMTP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1572768"/>
            <a:ext cx="201168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Malgun Gothi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4304" y="1371600"/>
            <a:ext cx="1481328" cy="685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04304" y="1371600"/>
            <a:ext cx="1481328" cy="6858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algun Gothic"/>
              </a:rPr>
              <a:t>수신자 메일함
도착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212848"/>
            <a:ext cx="4206240" cy="2587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2212848"/>
            <a:ext cx="64008" cy="2587752"/>
          </a:xfrm>
          <a:prstGeom prst="rect">
            <a:avLst/>
          </a:prstGeom>
          <a:solidFill>
            <a:srgbClr val="2E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2304288"/>
            <a:ext cx="384048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1" i="0">
                <a:solidFill>
                  <a:srgbClr val="1A254E"/>
                </a:solidFill>
                <a:latin typeface="Malgun Gothic"/>
              </a:rPr>
              <a:t>기술 구성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97480"/>
            <a:ext cx="3840480" cy="1225977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600"/>
              </a:spcAft>
            </a:pPr>
            <a:r>
              <a:rPr sz="1100" b="0" dirty="0">
                <a:solidFill>
                  <a:srgbClr val="556580"/>
                </a:solidFill>
                <a:latin typeface="Malgun Gothic"/>
              </a:rPr>
              <a:t>•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JavaMailSender</a:t>
            </a:r>
            <a:r>
              <a:rPr sz="1100" b="0" dirty="0">
                <a:solidFill>
                  <a:srgbClr val="556580"/>
                </a:solidFill>
                <a:latin typeface="Malgun Gothic"/>
              </a:rPr>
              <a:t> — Spring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제공</a:t>
            </a:r>
            <a:r>
              <a:rPr sz="11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메일</a:t>
            </a:r>
            <a:r>
              <a:rPr sz="11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인터페이스</a:t>
            </a:r>
            <a:endParaRPr sz="1100" b="0" dirty="0">
              <a:solidFill>
                <a:srgbClr val="556580"/>
              </a:solidFill>
              <a:latin typeface="Malgun Gothic"/>
            </a:endParaRPr>
          </a:p>
          <a:p>
            <a:pPr>
              <a:spcAft>
                <a:spcPts val="600"/>
              </a:spcAft>
            </a:pPr>
            <a:r>
              <a:rPr sz="1100" b="0" dirty="0">
                <a:solidFill>
                  <a:srgbClr val="556580"/>
                </a:solidFill>
                <a:latin typeface="Malgun Gothic"/>
              </a:rPr>
              <a:t>• SMTP</a:t>
            </a:r>
            <a:r>
              <a:rPr lang="en-US" sz="1100" b="0" dirty="0">
                <a:solidFill>
                  <a:srgbClr val="556580"/>
                </a:solidFill>
                <a:latin typeface="Malgun Gothic"/>
              </a:rPr>
              <a:t> </a:t>
            </a:r>
            <a:endParaRPr sz="1100" b="0" dirty="0">
              <a:solidFill>
                <a:srgbClr val="556580"/>
              </a:solidFill>
              <a:latin typeface="Malgun Gothic"/>
            </a:endParaRPr>
          </a:p>
          <a:p>
            <a:pPr>
              <a:spcAft>
                <a:spcPts val="600"/>
              </a:spcAft>
            </a:pPr>
            <a:r>
              <a:rPr sz="1100" b="0" dirty="0">
                <a:solidFill>
                  <a:srgbClr val="556580"/>
                </a:solidFill>
                <a:latin typeface="Malgun Gothic"/>
              </a:rPr>
              <a:t>•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MimeMessageHelper</a:t>
            </a:r>
            <a:r>
              <a:rPr sz="1100" b="0" dirty="0">
                <a:solidFill>
                  <a:srgbClr val="556580"/>
                </a:solidFill>
                <a:latin typeface="Malgun Gothic"/>
              </a:rPr>
              <a:t> — HTML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형식</a:t>
            </a:r>
            <a:r>
              <a:rPr sz="1100" b="0" dirty="0">
                <a:solidFill>
                  <a:srgbClr val="556580"/>
                </a:solidFill>
                <a:latin typeface="Malgun Gothic"/>
              </a:rPr>
              <a:t> + UTF-8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설정</a:t>
            </a:r>
            <a:endParaRPr sz="1100" b="0" dirty="0">
              <a:solidFill>
                <a:srgbClr val="556580"/>
              </a:solidFill>
              <a:latin typeface="Malgun Gothic"/>
            </a:endParaRPr>
          </a:p>
          <a:p>
            <a:pPr>
              <a:spcAft>
                <a:spcPts val="600"/>
              </a:spcAft>
            </a:pPr>
            <a:r>
              <a:rPr sz="1100" b="0" dirty="0">
                <a:solidFill>
                  <a:srgbClr val="556580"/>
                </a:solidFill>
                <a:latin typeface="Malgun Gothic"/>
              </a:rPr>
              <a:t>• @Value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주입</a:t>
            </a:r>
            <a:r>
              <a:rPr sz="1100" b="0" dirty="0">
                <a:solidFill>
                  <a:srgbClr val="556580"/>
                </a:solidFill>
                <a:latin typeface="Malgun Gothic"/>
              </a:rPr>
              <a:t> —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발신</a:t>
            </a:r>
            <a:r>
              <a:rPr sz="11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계정을</a:t>
            </a:r>
            <a:r>
              <a:rPr sz="11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yml에서</a:t>
            </a:r>
            <a:r>
              <a:rPr sz="11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분리</a:t>
            </a:r>
            <a:r>
              <a:rPr sz="11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관리</a:t>
            </a:r>
            <a:endParaRPr sz="1100" b="0" dirty="0">
              <a:solidFill>
                <a:srgbClr val="556580"/>
              </a:solidFill>
              <a:latin typeface="Malgun Gothic"/>
            </a:endParaRPr>
          </a:p>
          <a:p>
            <a:pPr>
              <a:spcAft>
                <a:spcPts val="600"/>
              </a:spcAft>
            </a:pPr>
            <a:r>
              <a:rPr sz="1100" b="0" dirty="0">
                <a:solidFill>
                  <a:srgbClr val="556580"/>
                </a:solidFill>
                <a:latin typeface="Malgun Gothic"/>
              </a:rPr>
              <a:t>• 앱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비밀번호</a:t>
            </a:r>
            <a:r>
              <a:rPr sz="11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사용</a:t>
            </a:r>
            <a:r>
              <a:rPr sz="1100" b="0" dirty="0">
                <a:solidFill>
                  <a:srgbClr val="556580"/>
                </a:solidFill>
                <a:latin typeface="Malgun Gothic"/>
              </a:rPr>
              <a:t> —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구글</a:t>
            </a:r>
            <a:r>
              <a:rPr sz="11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계정</a:t>
            </a:r>
            <a:r>
              <a:rPr sz="1100" b="0" dirty="0">
                <a:solidFill>
                  <a:srgbClr val="556580"/>
                </a:solidFill>
                <a:latin typeface="Malgun Gothic"/>
              </a:rPr>
              <a:t> 2FA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우회</a:t>
            </a:r>
            <a:r>
              <a:rPr sz="11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dirty="0" err="1">
                <a:solidFill>
                  <a:srgbClr val="556580"/>
                </a:solidFill>
                <a:latin typeface="Malgun Gothic"/>
              </a:rPr>
              <a:t>방지</a:t>
            </a:r>
            <a:endParaRPr sz="1100" b="0" dirty="0">
              <a:solidFill>
                <a:srgbClr val="556580"/>
              </a:solidFill>
              <a:latin typeface="Malgun Gothic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4754880" y="2212848"/>
            <a:ext cx="4069080" cy="2587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754880" y="2212848"/>
            <a:ext cx="64008" cy="25877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83480" y="2304288"/>
            <a:ext cx="36576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1" i="0">
                <a:solidFill>
                  <a:srgbClr val="1A254E"/>
                </a:solidFill>
                <a:latin typeface="Malgun Gothic"/>
              </a:rPr>
              <a:t>설계 포인트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2697480"/>
            <a:ext cx="3657600" cy="2149306"/>
          </a:xfrm>
          <a:prstGeom prst="rect">
            <a:avLst/>
          </a:prstGeom>
          <a:noFill/>
        </p:spPr>
        <p:txBody>
          <a:bodyPr wrap="square" lIns="25400" tIns="25400">
            <a:spAutoFit/>
          </a:bodyPr>
          <a:lstStyle/>
          <a:p>
            <a:pPr>
              <a:spcAft>
                <a:spcPts val="300"/>
              </a:spcAft>
            </a:pPr>
            <a:r>
              <a:rPr sz="1000" b="1" dirty="0">
                <a:solidFill>
                  <a:srgbClr val="1A254E"/>
                </a:solidFill>
                <a:latin typeface="Malgun Gothic"/>
              </a:rPr>
              <a:t>HTML </a:t>
            </a:r>
            <a:r>
              <a:rPr sz="1000" b="1" dirty="0" err="1">
                <a:solidFill>
                  <a:srgbClr val="1A254E"/>
                </a:solidFill>
                <a:latin typeface="Malgun Gothic"/>
              </a:rPr>
              <a:t>메일</a:t>
            </a:r>
            <a:r>
              <a:rPr sz="1000" b="1" dirty="0">
                <a:solidFill>
                  <a:srgbClr val="1A254E"/>
                </a:solidFill>
                <a:latin typeface="Malgun Gothic"/>
              </a:rPr>
              <a:t> </a:t>
            </a:r>
            <a:r>
              <a:rPr sz="1000" b="1" dirty="0" err="1">
                <a:solidFill>
                  <a:srgbClr val="1A254E"/>
                </a:solidFill>
                <a:latin typeface="Malgun Gothic"/>
              </a:rPr>
              <a:t>구성</a:t>
            </a:r>
            <a:endParaRPr sz="1000" b="1" dirty="0">
              <a:solidFill>
                <a:srgbClr val="1A254E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r>
              <a:rPr sz="1000" b="0" dirty="0" err="1">
                <a:solidFill>
                  <a:srgbClr val="556580"/>
                </a:solidFill>
                <a:latin typeface="Malgun Gothic"/>
              </a:rPr>
              <a:t>MimeMessageHelper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(true)로 HTML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본문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지원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,
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브랜드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스타일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적용된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템플릿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방식으로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구성</a:t>
            </a:r>
            <a:endParaRPr sz="1000" b="0" dirty="0">
              <a:solidFill>
                <a:srgbClr val="556580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556580"/>
                </a:solidFill>
                <a:latin typeface="Malgun Gothic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000" b="1" dirty="0" err="1">
                <a:solidFill>
                  <a:srgbClr val="1A254E"/>
                </a:solidFill>
                <a:latin typeface="Malgun Gothic"/>
              </a:rPr>
              <a:t>예외</a:t>
            </a:r>
            <a:r>
              <a:rPr sz="1000" b="1" dirty="0">
                <a:solidFill>
                  <a:srgbClr val="1A254E"/>
                </a:solidFill>
                <a:latin typeface="Malgun Gothic"/>
              </a:rPr>
              <a:t> </a:t>
            </a:r>
            <a:r>
              <a:rPr sz="1000" b="1" dirty="0" err="1">
                <a:solidFill>
                  <a:srgbClr val="1A254E"/>
                </a:solidFill>
                <a:latin typeface="Malgun Gothic"/>
              </a:rPr>
              <a:t>처리</a:t>
            </a:r>
            <a:r>
              <a:rPr sz="1000" b="1" dirty="0">
                <a:solidFill>
                  <a:srgbClr val="1A254E"/>
                </a:solidFill>
                <a:latin typeface="Malgun Gothic"/>
              </a:rPr>
              <a:t> </a:t>
            </a:r>
            <a:r>
              <a:rPr sz="1000" b="1" dirty="0" err="1">
                <a:solidFill>
                  <a:srgbClr val="1A254E"/>
                </a:solidFill>
                <a:latin typeface="Malgun Gothic"/>
              </a:rPr>
              <a:t>전략</a:t>
            </a:r>
            <a:endParaRPr sz="1000" b="1" dirty="0">
              <a:solidFill>
                <a:srgbClr val="1A254E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r>
              <a:rPr sz="1000" b="0" dirty="0" err="1">
                <a:solidFill>
                  <a:srgbClr val="556580"/>
                </a:solidFill>
                <a:latin typeface="Malgun Gothic"/>
              </a:rPr>
              <a:t>발송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실패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 시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RuntimeException으로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래핑하여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
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상위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레이어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(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배치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/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컨트롤러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)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에서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 일</a:t>
            </a:r>
            <a:r>
              <a:rPr lang="ko-KR" altLang="en-US" sz="1000" dirty="0" err="1">
                <a:solidFill>
                  <a:srgbClr val="556580"/>
                </a:solidFill>
                <a:latin typeface="Malgun Gothic"/>
              </a:rPr>
              <a:t>괄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처리</a:t>
            </a:r>
            <a:endParaRPr sz="1000" b="0" dirty="0">
              <a:solidFill>
                <a:srgbClr val="556580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556580"/>
                </a:solidFill>
                <a:latin typeface="Malgun Gothic"/>
              </a:rPr>
              <a:t> </a:t>
            </a:r>
          </a:p>
          <a:p>
            <a:pPr>
              <a:spcAft>
                <a:spcPts val="300"/>
              </a:spcAft>
            </a:pPr>
            <a:r>
              <a:rPr sz="1000" b="1" dirty="0" err="1">
                <a:solidFill>
                  <a:srgbClr val="1A254E"/>
                </a:solidFill>
                <a:latin typeface="Malgun Gothic"/>
              </a:rPr>
              <a:t>발신자</a:t>
            </a:r>
            <a:r>
              <a:rPr sz="1000" b="1" dirty="0">
                <a:solidFill>
                  <a:srgbClr val="1A254E"/>
                </a:solidFill>
                <a:latin typeface="Malgun Gothic"/>
              </a:rPr>
              <a:t> </a:t>
            </a:r>
            <a:r>
              <a:rPr sz="1000" b="1" dirty="0" err="1">
                <a:solidFill>
                  <a:srgbClr val="1A254E"/>
                </a:solidFill>
                <a:latin typeface="Malgun Gothic"/>
              </a:rPr>
              <a:t>정보</a:t>
            </a:r>
            <a:r>
              <a:rPr sz="1000" b="1" dirty="0">
                <a:solidFill>
                  <a:srgbClr val="1A254E"/>
                </a:solidFill>
                <a:latin typeface="Malgun Gothic"/>
              </a:rPr>
              <a:t> </a:t>
            </a:r>
            <a:r>
              <a:rPr sz="1000" b="1" dirty="0" err="1">
                <a:solidFill>
                  <a:srgbClr val="1A254E"/>
                </a:solidFill>
                <a:latin typeface="Malgun Gothic"/>
              </a:rPr>
              <a:t>분리</a:t>
            </a:r>
            <a:endParaRPr sz="1000" b="1" dirty="0">
              <a:solidFill>
                <a:srgbClr val="1A254E"/>
              </a:solidFill>
              <a:latin typeface="Malgun Gothic"/>
            </a:endParaRPr>
          </a:p>
          <a:p>
            <a:pPr>
              <a:spcAft>
                <a:spcPts val="300"/>
              </a:spcAft>
            </a:pPr>
            <a:r>
              <a:rPr sz="1000" b="0" dirty="0">
                <a:solidFill>
                  <a:srgbClr val="556580"/>
                </a:solidFill>
                <a:latin typeface="Malgun Gothic"/>
              </a:rPr>
              <a:t>@Value로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application.yml에서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주입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
→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환경별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계정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교체</a:t>
            </a:r>
            <a:r>
              <a:rPr sz="1000" b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000" b="0" dirty="0" err="1">
                <a:solidFill>
                  <a:srgbClr val="556580"/>
                </a:solidFill>
                <a:latin typeface="Malgun Gothic"/>
              </a:rPr>
              <a:t>용이</a:t>
            </a:r>
            <a:endParaRPr sz="1000" b="0" dirty="0">
              <a:solidFill>
                <a:srgbClr val="556580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6400800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핵심 기능 ③ — CSV 대용량 데이터 적재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64592"/>
            <a:ext cx="19202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1000" b="0" i="0">
                <a:solidFill>
                  <a:srgbClr val="AABBDD"/>
                </a:solidFill>
                <a:latin typeface="Malgun Gothic"/>
              </a:rPr>
              <a:t>Bulk CSV Upload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1536192" cy="150876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1536192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2200" b="0" i="0">
                <a:latin typeface="Segoe UI Emoji"/>
              </a:rPr>
              <a:t>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44752"/>
            <a:ext cx="1536192" cy="38404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CSV
파일 업로드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10512"/>
            <a:ext cx="1536192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900" b="0" i="0">
                <a:solidFill>
                  <a:srgbClr val="CCDDFF"/>
                </a:solidFill>
                <a:latin typeface="Malgun Gothic"/>
              </a:rPr>
              <a:t>화면에서 파일 선택
→ NAS 임시 저장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0512" y="155448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Malgun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75103" y="960120"/>
            <a:ext cx="1536192" cy="1508760"/>
          </a:xfrm>
          <a:prstGeom prst="rect">
            <a:avLst/>
          </a:prstGeom>
          <a:solidFill>
            <a:srgbClr val="2E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75103" y="1005840"/>
            <a:ext cx="1536192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2200" b="0" i="0">
                <a:latin typeface="Segoe UI Emoji"/>
              </a:rP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3" y="1444752"/>
            <a:ext cx="1536192" cy="38404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파싱 &amp;
유효성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103" y="1810512"/>
            <a:ext cx="1536192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900" b="0" i="0">
                <a:solidFill>
                  <a:srgbClr val="CCDDFF"/>
                </a:solidFill>
                <a:latin typeface="Malgun Gothic"/>
              </a:rPr>
              <a:t>행별 컬럼 분리
필수값 누락 체크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11296" y="155448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Malgun Gothi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5887" y="960120"/>
            <a:ext cx="1536192" cy="1508760"/>
          </a:xfrm>
          <a:prstGeom prst="rect">
            <a:avLst/>
          </a:prstGeom>
          <a:solidFill>
            <a:srgbClr val="874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75887" y="1005840"/>
            <a:ext cx="1536192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2200" b="0" i="0">
                <a:latin typeface="Segoe UI Emoj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7" y="1444752"/>
            <a:ext cx="1536192" cy="38404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성공/실패
행 분리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1810512"/>
            <a:ext cx="1536192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900" b="0" i="0">
                <a:solidFill>
                  <a:srgbClr val="CCDDFF"/>
                </a:solidFill>
                <a:latin typeface="Malgun Gothic"/>
              </a:rPr>
              <a:t>성공: DB 적재 대기
실패: 사유와 함께 반환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155448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Malgun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76672" y="960120"/>
            <a:ext cx="1536192" cy="1508760"/>
          </a:xfrm>
          <a:prstGeom prst="rect">
            <a:avLst/>
          </a:prstGeom>
          <a:solidFill>
            <a:srgbClr val="167F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76672" y="1005840"/>
            <a:ext cx="1536192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2200" b="0" i="0">
                <a:latin typeface="Segoe UI Emoji"/>
              </a:rPr>
              <a:t>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6672" y="1444752"/>
            <a:ext cx="1536192" cy="38404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100건 Chunk
DB 적재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1810512"/>
            <a:ext cx="1536192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900" b="0" i="0">
                <a:solidFill>
                  <a:srgbClr val="CCDDFF"/>
                </a:solidFill>
                <a:latin typeface="Malgun Gothic"/>
              </a:rPr>
              <a:t>@Transactional
롤백 보장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12864" y="1554480"/>
            <a:ext cx="1828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300" b="1" i="0">
                <a:solidFill>
                  <a:srgbClr val="F5A623"/>
                </a:solidFill>
                <a:latin typeface="Malgun Gothic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77455" y="960120"/>
            <a:ext cx="1536192" cy="1508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77455" y="1005840"/>
            <a:ext cx="1536192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2200" b="0" i="0">
                <a:latin typeface="Segoe UI Emoji"/>
              </a:rPr>
              <a:t>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7455" y="1444752"/>
            <a:ext cx="1536192" cy="38404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</a:rPr>
              <a:t>결과
리포트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77455" y="1810512"/>
            <a:ext cx="1536192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900" b="0" i="0">
                <a:solidFill>
                  <a:srgbClr val="CCDDFF"/>
                </a:solidFill>
                <a:latin typeface="Malgun Gothic"/>
              </a:rPr>
              <a:t>성공/실패 건수
화면 표시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2633472"/>
            <a:ext cx="850392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1" i="0">
                <a:solidFill>
                  <a:srgbClr val="1A254E"/>
                </a:solidFill>
                <a:latin typeface="Malgun Gothic"/>
              </a:rPr>
              <a:t>핵심 설계 결정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017520"/>
            <a:ext cx="2788920" cy="1810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320040" y="3017520"/>
            <a:ext cx="64008" cy="18105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1207" y="3090672"/>
            <a:ext cx="2514600" cy="38404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1A254E"/>
                </a:solidFill>
                <a:latin typeface="Malgun Gothic"/>
              </a:rPr>
              <a:t>UTF-8 인코딩 명시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7" y="3520440"/>
            <a:ext cx="2514600" cy="11887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InputStreamReader(UTF-8) 명시
new FileReader() 사용 시 시스템 기본
인코딩 적용 → 한글 데이터 깨짐 발생
→ 명시적 인코딩으로 안정성 확보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64408" y="3017520"/>
            <a:ext cx="2788920" cy="1810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64408" y="3017520"/>
            <a:ext cx="64008" cy="18105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65576" y="3090672"/>
            <a:ext cx="2514600" cy="38404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1A254E"/>
                </a:solidFill>
                <a:latin typeface="Malgun Gothic"/>
              </a:rPr>
              <a:t>Chunk 분할 적재
+ rollbackFor 설정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65576" y="3520440"/>
            <a:ext cx="2514600" cy="11887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@Transactional(rollbackFor=Exception.class)
일반 @Transactional은 RuntimeException만
롤백 → IO 작업의 checked 예외도
롤백 보장하도록 명시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08776" y="3017520"/>
            <a:ext cx="2788920" cy="1810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08776" y="3017520"/>
            <a:ext cx="64008" cy="18105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9944" y="3090672"/>
            <a:ext cx="2514600" cy="38404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1A254E"/>
                </a:solidFill>
                <a:latin typeface="Malgun Gothic"/>
              </a:rPr>
              <a:t>Stream 대신 일반 for문
(트랜잭션 안전성)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9944" y="3520440"/>
            <a:ext cx="2514600" cy="11887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Stream 람다 내부 예외는 트랜잭션
전파가 불확실할 수 있음
→ 일반 for문으로 교체하여
롤백 동작 명확하게 보장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6400800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배치</a:t>
            </a:r>
            <a:r>
              <a:rPr sz="22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관리</a:t>
            </a:r>
            <a:r>
              <a:rPr sz="22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화면</a:t>
            </a:r>
            <a:r>
              <a:rPr sz="2200" b="1" i="0" dirty="0">
                <a:solidFill>
                  <a:srgbClr val="FFFFFF"/>
                </a:solidFill>
                <a:latin typeface="Malgun Gothic"/>
              </a:rPr>
              <a:t> — UI </a:t>
            </a:r>
            <a:r>
              <a:rPr sz="2200" b="1" i="0" dirty="0" err="1">
                <a:solidFill>
                  <a:srgbClr val="FFFFFF"/>
                </a:solidFill>
                <a:latin typeface="Malgun Gothic"/>
              </a:rPr>
              <a:t>설계</a:t>
            </a:r>
            <a:endParaRPr sz="22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0" y="164592"/>
            <a:ext cx="19202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1000" b="0" i="0">
                <a:solidFill>
                  <a:srgbClr val="AABBDD"/>
                </a:solidFill>
                <a:latin typeface="Malgun Gothic"/>
              </a:rPr>
              <a:t>Batch Management UI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41148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64008" cy="384048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3749039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1" i="0">
                <a:solidFill>
                  <a:srgbClr val="1A254E"/>
                </a:solidFill>
                <a:latin typeface="Malgun Gothic"/>
              </a:rPr>
              <a:t>화면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481328"/>
            <a:ext cx="3794760" cy="7132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536192"/>
            <a:ext cx="356616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1A254E"/>
                </a:solidFill>
                <a:latin typeface="Malgun Gothic"/>
              </a:rPr>
              <a:t>📋 배치 목록 테이블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28800"/>
            <a:ext cx="356616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배치코드 · 배치명 · 실행주기 · 설명을
테이블 형태로 표시 (Thymeleaf 렌더링)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286000"/>
            <a:ext cx="3794760" cy="7132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340864"/>
            <a:ext cx="356616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1A254E"/>
                </a:solidFill>
                <a:latin typeface="Malgun Gothic"/>
              </a:rPr>
              <a:t>▶ 수동 실행 버튼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33472"/>
            <a:ext cx="356616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Ajax(fetch) 비동기 호출
→ 화면 새로고침 없이 결과 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3090672"/>
            <a:ext cx="3794760" cy="7132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145536"/>
            <a:ext cx="356616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1A254E"/>
                </a:solidFill>
                <a:latin typeface="Malgun Gothic"/>
              </a:rPr>
              <a:t>📜 실행 이력 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438144"/>
            <a:ext cx="356616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Spring Batch JobExplorer API로
최근 10건 이력 동적 조회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3895344"/>
            <a:ext cx="3794760" cy="7132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3950207"/>
            <a:ext cx="356616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1" i="0">
                <a:solidFill>
                  <a:srgbClr val="1A254E"/>
                </a:solidFill>
                <a:latin typeface="Malgun Gothic"/>
              </a:rPr>
              <a:t>💬 상태 피드백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42816"/>
            <a:ext cx="356616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COMPLETED / FAILED / STARTED
상태를 색상으로 구분 표시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960120"/>
            <a:ext cx="4160520" cy="384048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663440" y="960120"/>
            <a:ext cx="4160520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987552"/>
            <a:ext cx="9144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0" i="0">
                <a:solidFill>
                  <a:srgbClr val="AAAAAA"/>
                </a:solidFill>
                <a:latin typeface="Malgun Gothic"/>
              </a:rPr>
              <a:t>● ● 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987552"/>
            <a:ext cx="301752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900" b="0" i="0">
                <a:solidFill>
                  <a:srgbClr val="556580"/>
                </a:solidFill>
                <a:latin typeface="Malgun Gothic"/>
              </a:rPr>
              <a:t>방산보안포탈 — 배치 관리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1298448"/>
            <a:ext cx="3886200" cy="27432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1316736"/>
            <a:ext cx="3749039" cy="237744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Malgun Gothic"/>
              </a:rPr>
              <a:t>배치 작업 관리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1627632"/>
            <a:ext cx="3886200" cy="237744"/>
          </a:xfrm>
          <a:prstGeom prst="rect">
            <a:avLst/>
          </a:prstGeom>
          <a:solidFill>
            <a:srgbClr val="243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0" y="1645920"/>
            <a:ext cx="18288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배치명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1645920"/>
            <a:ext cx="100584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주기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0" y="1645920"/>
            <a:ext cx="105156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Malgun Gothic"/>
              </a:rPr>
              <a:t>실행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1920240"/>
            <a:ext cx="38862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0" y="1975104"/>
            <a:ext cx="1828800" cy="1828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Malgun Gothic"/>
              </a:rPr>
              <a:t>만료 자산 알림 발송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1975104"/>
            <a:ext cx="1005840" cy="1828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Malgun Gothic"/>
              </a:rPr>
              <a:t>매일 06:30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79" y="1956816"/>
            <a:ext cx="822960" cy="182880"/>
          </a:xfrm>
          <a:prstGeom prst="rect">
            <a:avLst/>
          </a:prstGeom>
          <a:solidFill>
            <a:srgbClr val="2E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26679" y="1956816"/>
            <a:ext cx="822960" cy="1828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Malgun Gothic"/>
              </a:rPr>
              <a:t>실행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00600" y="2194560"/>
            <a:ext cx="3886200" cy="2560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46320" y="2249424"/>
            <a:ext cx="1828800" cy="1828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Malgun Gothic"/>
              </a:rPr>
              <a:t>CSV 데이터 검증 보고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2249424"/>
            <a:ext cx="1005840" cy="1828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Malgun Gothic"/>
              </a:rPr>
              <a:t>매주 월요일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26679" y="2231136"/>
            <a:ext cx="822960" cy="182880"/>
          </a:xfrm>
          <a:prstGeom prst="rect">
            <a:avLst/>
          </a:prstGeom>
          <a:solidFill>
            <a:srgbClr val="2E5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26679" y="2231136"/>
            <a:ext cx="822960" cy="1828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Malgun Gothic"/>
              </a:rPr>
              <a:t>실행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00600" y="2542032"/>
            <a:ext cx="3886200" cy="237744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92040" y="2560320"/>
            <a:ext cx="3749039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algun Gothic"/>
              </a:rPr>
              <a:t>실행 이력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00600" y="2834640"/>
            <a:ext cx="38862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64608" y="2889504"/>
            <a:ext cx="2560320" cy="1828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Malgun Gothic"/>
              </a:rPr>
              <a:t>2024-01-15 06:30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52360" y="2871216"/>
            <a:ext cx="1143000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52360" y="2871216"/>
            <a:ext cx="1143000" cy="1828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Malgun Gothic"/>
              </a:rPr>
              <a:t>COMPLETED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3127248"/>
            <a:ext cx="3886200" cy="25603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64608" y="3182112"/>
            <a:ext cx="2560320" cy="1828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Malgun Gothic"/>
              </a:rPr>
              <a:t>2024-01-14 06:30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52360" y="3163824"/>
            <a:ext cx="1143000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52360" y="3163824"/>
            <a:ext cx="1143000" cy="1828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Malgun Gothic"/>
              </a:rPr>
              <a:t>COMPLETED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00600" y="3419856"/>
            <a:ext cx="38862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64608" y="3474720"/>
            <a:ext cx="2560320" cy="1828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800" b="0" i="0">
                <a:solidFill>
                  <a:srgbClr val="556580"/>
                </a:solidFill>
                <a:latin typeface="Malgun Gothic"/>
              </a:rPr>
              <a:t>2024-01-13 06:30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52360" y="3456432"/>
            <a:ext cx="1143000" cy="1828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52360" y="3456432"/>
            <a:ext cx="1143000" cy="1828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Malgun Gothic"/>
              </a:rPr>
              <a:t>FAILED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6400800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기술적 의사결정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64592"/>
            <a:ext cx="19202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1000" b="0" i="0">
                <a:solidFill>
                  <a:srgbClr val="AABBDD"/>
                </a:solidFill>
                <a:latin typeface="Malgun Gothic"/>
              </a:rPr>
              <a:t>Technical Decisions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98448"/>
            <a:ext cx="416052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298448"/>
            <a:ext cx="64008" cy="17190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84632" y="1435607"/>
            <a:ext cx="1280160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" y="1435607"/>
            <a:ext cx="128016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선택 이유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435607"/>
            <a:ext cx="2468880" cy="23596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1" i="0" dirty="0" err="1">
                <a:solidFill>
                  <a:srgbClr val="1A254E"/>
                </a:solidFill>
                <a:latin typeface="Malgun Gothic"/>
              </a:rPr>
              <a:t>MyBatis</a:t>
            </a:r>
            <a:endParaRPr sz="1200" b="1" i="0" dirty="0">
              <a:solidFill>
                <a:srgbClr val="1A254E"/>
              </a:solidFill>
              <a:latin typeface="Malgun Gothi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4632" y="1801368"/>
            <a:ext cx="3840480" cy="38985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lang="ko-KR" altLang="en-US" sz="1100" b="0" i="0" dirty="0">
                <a:solidFill>
                  <a:srgbClr val="556580"/>
                </a:solidFill>
                <a:latin typeface="Malgun Gothic"/>
              </a:rPr>
              <a:t>대부분 다수의 테이블을 조인 하거나</a:t>
            </a:r>
            <a:r>
              <a:rPr lang="en-US" altLang="ko-KR" sz="1100" b="0" i="0" dirty="0">
                <a:solidFill>
                  <a:srgbClr val="556580"/>
                </a:solidFill>
                <a:latin typeface="Malgun Gothic"/>
              </a:rPr>
              <a:t>,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복잡한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동적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쿼리</a:t>
            </a:r>
            <a:r>
              <a:rPr lang="en-US"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lang="ko-KR" altLang="en-US" sz="1100" dirty="0">
                <a:solidFill>
                  <a:srgbClr val="556580"/>
                </a:solidFill>
                <a:latin typeface="Malgun Gothic"/>
              </a:rPr>
              <a:t>로 인해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MyBatis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XML</a:t>
            </a:r>
            <a:r>
              <a:rPr lang="ko-KR" altLang="en-US" sz="1100" b="0" i="0" dirty="0">
                <a:solidFill>
                  <a:srgbClr val="556580"/>
                </a:solidFill>
                <a:latin typeface="Malgun Gothic"/>
              </a:rPr>
              <a:t>을 사용</a:t>
            </a:r>
            <a:r>
              <a:rPr lang="en-US" altLang="ko-KR" sz="1100" b="0" i="0" dirty="0">
                <a:solidFill>
                  <a:srgbClr val="556580"/>
                </a:solidFill>
                <a:latin typeface="Malgun Gothic"/>
              </a:rPr>
              <a:t>.</a:t>
            </a:r>
            <a:endParaRPr sz="1100" b="0" i="0" dirty="0">
              <a:solidFill>
                <a:srgbClr val="556580"/>
              </a:solidFill>
              <a:latin typeface="Malgun Gothi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754879" y="1298448"/>
            <a:ext cx="416052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4879" y="1298448"/>
            <a:ext cx="64008" cy="17190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19471" y="1435607"/>
            <a:ext cx="1280160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19471" y="1435607"/>
            <a:ext cx="128016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Spring Batch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1435607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1" i="0">
                <a:solidFill>
                  <a:srgbClr val="1A254E"/>
                </a:solidFill>
                <a:latin typeface="Malgun Gothic"/>
              </a:rPr>
              <a:t>Spring Batch vs 직접 반복문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1" y="1801368"/>
            <a:ext cx="3840480" cy="220573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 dirty="0">
                <a:solidFill>
                  <a:srgbClr val="556580"/>
                </a:solidFill>
                <a:latin typeface="Malgun Gothic"/>
              </a:rPr>
              <a:t>Chunk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처리로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메모리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효율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확보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,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실행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이력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자동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관리</a:t>
            </a:r>
            <a:r>
              <a:rPr lang="en-US" sz="1100" b="0" i="0" dirty="0">
                <a:solidFill>
                  <a:srgbClr val="556580"/>
                </a:solidFill>
                <a:latin typeface="Malgun Gothic"/>
              </a:rPr>
              <a:t>.</a:t>
            </a:r>
            <a:endParaRPr sz="1100" b="0" i="0" dirty="0">
              <a:solidFill>
                <a:srgbClr val="556580"/>
              </a:solidFill>
              <a:latin typeface="Malgun Gothi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0040" y="3145536"/>
            <a:ext cx="416052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0040" y="3145536"/>
            <a:ext cx="64008" cy="17190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4632" y="3282696"/>
            <a:ext cx="1280160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" y="3282696"/>
            <a:ext cx="128016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SPA 대신 SSR 선택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282696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1" i="0">
                <a:solidFill>
                  <a:srgbClr val="1A254E"/>
                </a:solidFill>
                <a:latin typeface="Malgun Gothic"/>
              </a:rPr>
              <a:t>Thymeleaf 서버사이드 렌더링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3648456"/>
            <a:ext cx="3840480" cy="559127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내부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업무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포털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특성상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lang="ko-KR" altLang="en-US" sz="1100" b="0" i="0" dirty="0">
                <a:solidFill>
                  <a:srgbClr val="556580"/>
                </a:solidFill>
                <a:latin typeface="Malgun Gothic"/>
              </a:rPr>
              <a:t>애니메이션이나 복잡한 클라이언트 상태관리 </a:t>
            </a:r>
            <a:r>
              <a:rPr lang="ko-KR" altLang="en-US" sz="1100" b="0" i="0" dirty="0" err="1">
                <a:solidFill>
                  <a:srgbClr val="556580"/>
                </a:solidFill>
                <a:latin typeface="Malgun Gothic"/>
              </a:rPr>
              <a:t>필요없음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,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초기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로딩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속도</a:t>
            </a:r>
            <a:r>
              <a:rPr lang="ko-KR" altLang="en-US" sz="110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우선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,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서버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관리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단순화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→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Thymeleaf로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결정</a:t>
            </a:r>
            <a:endParaRPr lang="en-US" sz="1100" b="0" i="0" dirty="0">
              <a:solidFill>
                <a:srgbClr val="556580"/>
              </a:solidFill>
              <a:latin typeface="Malgun Gothic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754879" y="3145536"/>
            <a:ext cx="4160520" cy="1719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754879" y="3145536"/>
            <a:ext cx="64008" cy="171907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919471" y="3282696"/>
            <a:ext cx="1280160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19471" y="3282696"/>
            <a:ext cx="128016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algun Gothic"/>
              </a:rPr>
              <a:t>기본 동작의 한계 인지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282696"/>
            <a:ext cx="24688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1" i="0" dirty="0">
                <a:solidFill>
                  <a:srgbClr val="1A254E"/>
                </a:solidFill>
                <a:latin typeface="Malgun Gothic"/>
              </a:rPr>
              <a:t>@Transactional </a:t>
            </a:r>
            <a:r>
              <a:rPr sz="1200" b="1" i="0" dirty="0" err="1">
                <a:solidFill>
                  <a:srgbClr val="1A254E"/>
                </a:solidFill>
                <a:latin typeface="Malgun Gothic"/>
              </a:rPr>
              <a:t>rollbackFor</a:t>
            </a:r>
            <a:r>
              <a:rPr sz="1200" b="1" i="0" dirty="0">
                <a:solidFill>
                  <a:srgbClr val="1A254E"/>
                </a:solidFill>
                <a:latin typeface="Malgun Gothic"/>
              </a:rPr>
              <a:t> </a:t>
            </a:r>
            <a:r>
              <a:rPr sz="1200" b="1" i="0" dirty="0" err="1">
                <a:solidFill>
                  <a:srgbClr val="1A254E"/>
                </a:solidFill>
                <a:latin typeface="Malgun Gothic"/>
              </a:rPr>
              <a:t>명시</a:t>
            </a:r>
            <a:endParaRPr sz="1200" b="1" i="0" dirty="0">
              <a:solidFill>
                <a:srgbClr val="1A254E"/>
              </a:solidFill>
              <a:latin typeface="Malgun Gothi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919471" y="3648456"/>
            <a:ext cx="3840480" cy="38985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100" b="0" i="0" dirty="0">
                <a:solidFill>
                  <a:srgbClr val="556580"/>
                </a:solidFill>
                <a:latin typeface="Malgun Gothic"/>
              </a:rPr>
              <a:t>Spring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기본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@Transactional은 Unchecked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Exception만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
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롤백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→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IOException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발생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시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rollbackFor로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명시</a:t>
            </a:r>
            <a:r>
              <a:rPr sz="1100" b="0" i="0" dirty="0">
                <a:solidFill>
                  <a:srgbClr val="556580"/>
                </a:solidFill>
                <a:latin typeface="Malgun Gothic"/>
              </a:rPr>
              <a:t> </a:t>
            </a:r>
            <a:r>
              <a:rPr sz="1100" b="0" i="0" dirty="0" err="1">
                <a:solidFill>
                  <a:srgbClr val="556580"/>
                </a:solidFill>
                <a:latin typeface="Malgun Gothic"/>
              </a:rPr>
              <a:t>보완</a:t>
            </a:r>
            <a:endParaRPr lang="en-US" sz="1100" b="0" i="0" dirty="0">
              <a:solidFill>
                <a:srgbClr val="556580"/>
              </a:solidFill>
              <a:latin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6400800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algun Gothic"/>
              </a:rPr>
              <a:t>고민한 점 &amp; 트러블슈팅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64592"/>
            <a:ext cx="192024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/>
            <a:r>
              <a:rPr sz="1000" b="0" i="0">
                <a:solidFill>
                  <a:srgbClr val="AABBDD"/>
                </a:solidFill>
                <a:latin typeface="Malgun Gothic"/>
              </a:rPr>
              <a:t>Problem Solving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960120"/>
            <a:ext cx="85039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64008" cy="1234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051560"/>
            <a:ext cx="41148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1" i="0" dirty="0">
                <a:solidFill>
                  <a:srgbClr val="1A254E"/>
                </a:solidFill>
                <a:latin typeface="Malgun Gothic"/>
              </a:rPr>
              <a:t>⚠️ Spring Batch </a:t>
            </a:r>
            <a:r>
              <a:rPr sz="1300" b="1" i="0" dirty="0" err="1">
                <a:solidFill>
                  <a:srgbClr val="1A254E"/>
                </a:solidFill>
                <a:latin typeface="Malgun Gothic"/>
              </a:rPr>
              <a:t>중복</a:t>
            </a:r>
            <a:r>
              <a:rPr sz="1300" b="1" i="0" dirty="0">
                <a:solidFill>
                  <a:srgbClr val="1A254E"/>
                </a:solidFill>
                <a:latin typeface="Malgun Gothic"/>
              </a:rPr>
              <a:t> </a:t>
            </a:r>
            <a:r>
              <a:rPr sz="1300" b="1" i="0" dirty="0" err="1">
                <a:solidFill>
                  <a:srgbClr val="1A254E"/>
                </a:solidFill>
                <a:latin typeface="Malgun Gothic"/>
              </a:rPr>
              <a:t>실행</a:t>
            </a:r>
            <a:r>
              <a:rPr sz="1300" b="1" i="0" dirty="0">
                <a:solidFill>
                  <a:srgbClr val="1A254E"/>
                </a:solidFill>
                <a:latin typeface="Malgun Gothic"/>
              </a:rPr>
              <a:t> </a:t>
            </a:r>
            <a:r>
              <a:rPr sz="1300" b="1" i="0" dirty="0" err="1">
                <a:solidFill>
                  <a:srgbClr val="1A254E"/>
                </a:solidFill>
                <a:latin typeface="Malgun Gothic"/>
              </a:rPr>
              <a:t>문제</a:t>
            </a:r>
            <a:endParaRPr sz="1300" b="1" i="0" dirty="0">
              <a:solidFill>
                <a:srgbClr val="1A254E"/>
              </a:solidFill>
              <a:latin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352" y="1435608"/>
            <a:ext cx="45720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1" i="0">
                <a:solidFill>
                  <a:srgbClr val="E74C3C"/>
                </a:solidFill>
                <a:latin typeface="Malgun Gothic"/>
              </a:rPr>
              <a:t>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417320"/>
            <a:ext cx="338328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동일한 JobParameters로 이미 성공한 Job을
재실행하면 JobInstanceAlreadyCompleteException 발생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069848"/>
            <a:ext cx="36576" cy="10058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1069848"/>
            <a:ext cx="45720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  <a:latin typeface="Malgun Gothic"/>
              </a:rPr>
              <a:t>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051560"/>
            <a:ext cx="338328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runAt(실행시각)을 JobParameters에 추가
→ 매번 새로운 JobInstance로 인식하게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801368"/>
            <a:ext cx="393192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1" i="0">
                <a:solidFill>
                  <a:srgbClr val="2E5BAA"/>
                </a:solidFill>
                <a:latin typeface="Malgun Gothic"/>
              </a:rPr>
              <a:t>💡 Batch의 멱등성 설계 원칙 이해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313432"/>
            <a:ext cx="85039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313432"/>
            <a:ext cx="64008" cy="1234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2404872"/>
            <a:ext cx="41148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1" i="0" dirty="0">
                <a:solidFill>
                  <a:srgbClr val="1A254E"/>
                </a:solidFill>
                <a:latin typeface="Malgun Gothic"/>
              </a:rPr>
              <a:t>⚠️ CSV </a:t>
            </a:r>
            <a:r>
              <a:rPr sz="1300" b="1" i="0" dirty="0" err="1">
                <a:solidFill>
                  <a:srgbClr val="1A254E"/>
                </a:solidFill>
                <a:latin typeface="Malgun Gothic"/>
              </a:rPr>
              <a:t>한글</a:t>
            </a:r>
            <a:r>
              <a:rPr sz="1300" b="1" i="0" dirty="0">
                <a:solidFill>
                  <a:srgbClr val="1A254E"/>
                </a:solidFill>
                <a:latin typeface="Malgun Gothic"/>
              </a:rPr>
              <a:t> </a:t>
            </a:r>
            <a:r>
              <a:rPr sz="1300" b="1" i="0" dirty="0" err="1">
                <a:solidFill>
                  <a:srgbClr val="1A254E"/>
                </a:solidFill>
                <a:latin typeface="Malgun Gothic"/>
              </a:rPr>
              <a:t>깨짐</a:t>
            </a:r>
            <a:endParaRPr sz="1300" b="1" i="0" dirty="0">
              <a:solidFill>
                <a:srgbClr val="1A254E"/>
              </a:solidFill>
              <a:latin typeface="Malgun Gothi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0352" y="2788920"/>
            <a:ext cx="45720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1" i="0">
                <a:solidFill>
                  <a:srgbClr val="E74C3C"/>
                </a:solidFill>
                <a:latin typeface="Malgun Gothic"/>
              </a:rPr>
              <a:t>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770632"/>
            <a:ext cx="338328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Windows에서 만든 CSV 파일을 서버에서 읽으면
한글 데이터가 '???'로 깨지는 현상 발생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2423160"/>
            <a:ext cx="36576" cy="10058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09160" y="2423160"/>
            <a:ext cx="45720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  <a:latin typeface="Malgun Gothic"/>
              </a:rPr>
              <a:t>해결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404872"/>
            <a:ext cx="338328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BufferedReader + InputStreamReader(UTF-8) 명시
new FileReader()의 시스템 인코딩 의존성 제거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154680"/>
            <a:ext cx="393192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1" i="0">
                <a:solidFill>
                  <a:srgbClr val="2E5BAA"/>
                </a:solidFill>
                <a:latin typeface="Malgun Gothic"/>
              </a:rPr>
              <a:t>💡 문자 인코딩을 명시하는 습관의 중요성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666744"/>
            <a:ext cx="85039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" y="3666744"/>
            <a:ext cx="64008" cy="12344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3758183"/>
            <a:ext cx="41148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300" b="1" i="0">
                <a:solidFill>
                  <a:srgbClr val="1A254E"/>
                </a:solidFill>
                <a:latin typeface="Malgun Gothic"/>
              </a:rPr>
              <a:t>⚠️ 트랜잭션 롤백 미작동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4142231"/>
            <a:ext cx="45720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1" i="0">
                <a:solidFill>
                  <a:srgbClr val="E74C3C"/>
                </a:solidFill>
                <a:latin typeface="Malgun Gothic"/>
              </a:rPr>
              <a:t>문제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123944"/>
            <a:ext cx="338328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CSV 적재 중 IOException 발생 시
DB가 롤백되지 않아 일부 데이터만 저장되는 문제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3776472"/>
            <a:ext cx="36576" cy="10058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60" y="3776472"/>
            <a:ext cx="45720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1" i="0">
                <a:solidFill>
                  <a:srgbClr val="27AE60"/>
                </a:solidFill>
                <a:latin typeface="Malgun Gothic"/>
              </a:rPr>
              <a:t>해결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3758183"/>
            <a:ext cx="338328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000" b="0" i="0">
                <a:solidFill>
                  <a:srgbClr val="556580"/>
                </a:solidFill>
                <a:latin typeface="Malgun Gothic"/>
              </a:rPr>
              <a:t>@Transactional(rollbackFor=Exception.class) 명시
기본 동작이 RuntimeException만 처리함을 파악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4507992"/>
            <a:ext cx="393192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900" b="1" i="0">
                <a:solidFill>
                  <a:srgbClr val="2E5BAA"/>
                </a:solidFill>
                <a:latin typeface="Malgun Gothic"/>
              </a:rPr>
              <a:t>💡 Spring 트랜잭션 기본 동작 범위를 정확히 파악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943600" y="-365760"/>
            <a:ext cx="4114800" cy="4114800"/>
          </a:xfrm>
          <a:prstGeom prst="ellipse">
            <a:avLst/>
          </a:prstGeom>
          <a:solidFill>
            <a:srgbClr val="243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949440" y="1463040"/>
            <a:ext cx="2286000" cy="2286000"/>
          </a:xfrm>
          <a:prstGeom prst="ellipse">
            <a:avLst/>
          </a:prstGeom>
          <a:solidFill>
            <a:srgbClr val="2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457200" y="3200400"/>
            <a:ext cx="2926080" cy="2926080"/>
          </a:xfrm>
          <a:prstGeom prst="ellipse">
            <a:avLst/>
          </a:prstGeom>
          <a:solidFill>
            <a:srgbClr val="243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64008" cy="2560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207008"/>
            <a:ext cx="685800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0">
                <a:solidFill>
                  <a:srgbClr val="AABBDD"/>
                </a:solidFill>
                <a:latin typeface="Malgun Gothic"/>
              </a:rPr>
              <a:t>배운 것 &amp; 성장 포인트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91640"/>
            <a:ext cx="7315200" cy="5486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algun Gothic"/>
              </a:rPr>
              <a:t>단순 기능 구현을 넘어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40280"/>
            <a:ext cx="7315200" cy="5486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2200" b="0" i="0">
                <a:solidFill>
                  <a:srgbClr val="F5A623"/>
                </a:solidFill>
                <a:latin typeface="Malgun Gothic"/>
              </a:rPr>
              <a:t>'왜 이렇게 설계했는가'를 고민한 프로젝트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" y="2944368"/>
            <a:ext cx="7680960" cy="36576"/>
          </a:xfrm>
          <a:prstGeom prst="rect">
            <a:avLst/>
          </a:prstGeom>
          <a:solidFill>
            <a:srgbClr val="3A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3090672"/>
            <a:ext cx="68580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  <a:latin typeface="Malgun Gothic"/>
              </a:rPr>
              <a:t>✓  Spring Batch 청크 처리와 메모리 효율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438144"/>
            <a:ext cx="68580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  <a:latin typeface="Malgun Gothic"/>
              </a:rPr>
              <a:t>✓  트랜잭션 롤백 범위와 예외 계층 구조 이해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785615"/>
            <a:ext cx="6858000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  <a:latin typeface="Malgun Gothic"/>
              </a:rPr>
              <a:t>✓  인코딩·직렬화 문제를 명시적 설정으로 해결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62272"/>
            <a:ext cx="4572000" cy="38404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/>
            <a:r>
              <a:rPr sz="1200" b="0" i="0">
                <a:solidFill>
                  <a:srgbClr val="667799"/>
                </a:solidFill>
                <a:latin typeface="Malgun Gothic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1034</Words>
  <Application>Microsoft Office PowerPoint</Application>
  <PresentationFormat>화면 슬라이드 쇼(16:9)</PresentationFormat>
  <Paragraphs>212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Malgun Gothic</vt:lpstr>
      <vt:lpstr>Arial</vt:lpstr>
      <vt:lpstr>Calibri</vt:lpstr>
      <vt:lpstr>Segoe UI Emoji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남용 김</cp:lastModifiedBy>
  <cp:revision>1</cp:revision>
  <dcterms:created xsi:type="dcterms:W3CDTF">2013-01-27T09:14:16Z</dcterms:created>
  <dcterms:modified xsi:type="dcterms:W3CDTF">2026-04-23T14:33:23Z</dcterms:modified>
  <cp:category/>
</cp:coreProperties>
</file>